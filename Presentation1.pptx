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7" r:id="rId4"/>
    <p:sldId id="267" r:id="rId5"/>
    <p:sldId id="268" r:id="rId6"/>
    <p:sldId id="270" r:id="rId7"/>
    <p:sldId id="261" r:id="rId8"/>
    <p:sldId id="271" r:id="rId9"/>
    <p:sldId id="277" r:id="rId10"/>
    <p:sldId id="276" r:id="rId11"/>
    <p:sldId id="275" r:id="rId12"/>
    <p:sldId id="264" r:id="rId13"/>
    <p:sldId id="278" r:id="rId14"/>
    <p:sldId id="265" r:id="rId15"/>
    <p:sldId id="282" r:id="rId16"/>
    <p:sldId id="284" r:id="rId17"/>
    <p:sldId id="285" r:id="rId18"/>
    <p:sldId id="286" r:id="rId19"/>
    <p:sldId id="287" r:id="rId20"/>
    <p:sldId id="28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>
        <p:scale>
          <a:sx n="66" d="100"/>
          <a:sy n="66" d="100"/>
        </p:scale>
        <p:origin x="1522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8282F-31E7-B8BC-57E3-EE04B01B8C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2E154-9F14-463C-EE9B-16BE432A6C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CCF76-6A55-5D8B-0138-F9598458C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0EBFF-7FDB-4F25-88E6-44D10D5D8792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CBBBB-378B-6887-ACB6-6D6EBE1D1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2F7D7-F18F-C06E-5F37-33260CBDD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F8B02-3318-4451-8605-DD63C8A21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9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9723E-8BE2-4DFB-7FE1-295B568B2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E513E-C634-AEB8-84C4-95E3F8C57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BF643-3347-C160-E964-F91B2AC60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0EBFF-7FDB-4F25-88E6-44D10D5D8792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7EEC1-7652-ED6F-E343-12E2DB73C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2D9BA-7EF3-33CF-69EC-4126BDCD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F8B02-3318-4451-8605-DD63C8A21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040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7536A-B959-8FFD-2902-454359388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C6EA40-F5DC-9E2B-F6E8-48A7D0812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E4376-5BC4-FA9D-F88C-607E94049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0EBFF-7FDB-4F25-88E6-44D10D5D8792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2D5D7-31C7-AE1D-8F28-0DCD23520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23C19-A127-E026-262A-01C70C1F6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F8B02-3318-4451-8605-DD63C8A21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00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E432A-531E-8293-6707-272AEF5E2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4B5D6-FAA3-0156-A3CC-7EF66B4E3C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2935C4-ADE1-8AAC-0D6B-9ADEC19DC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4039D2-2D41-A775-472C-BECF472DB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0EBFF-7FDB-4F25-88E6-44D10D5D8792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2012A0-6E6F-0F19-4A38-010AD1171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AE33A0-EAAF-33A7-0C63-A7376747A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F8B02-3318-4451-8605-DD63C8A21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433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E1612-AABA-0134-CABB-7331FCC44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D65E60-975E-C3BD-1748-A02B4179E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5B591-D991-6D12-1366-49CD785F8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90C507-F04E-57B7-D154-8F30B8E7D5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F30AC9-E901-DBEC-AAF8-4FD0439607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F39716-3A73-7333-73C0-7D7872189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0EBFF-7FDB-4F25-88E6-44D10D5D8792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E83EC2-579B-EF05-C14C-1418F12C2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0E0ACB-33BF-BBBB-8A46-9E7D6010C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F8B02-3318-4451-8605-DD63C8A21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639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6F424-1911-0B65-9C17-80526CF34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51FECB-30BA-4C16-238C-A71A49CFE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0EBFF-7FDB-4F25-88E6-44D10D5D8792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85DB65-979D-1F6F-1CD1-4C0D1AAB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D7595F-0F21-B884-5493-E3B184B93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F8B02-3318-4451-8605-DD63C8A21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82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9C4FDD-21FF-A8A3-2A46-ACA5B618B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0EBFF-7FDB-4F25-88E6-44D10D5D8792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CA404F-3041-B30C-18BA-0F7BA8288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EE942-47E6-53F6-3884-288C1B7AF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F8B02-3318-4451-8605-DD63C8A21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119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73669-6D95-0C5A-A75F-95AEDB691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93600-8ED6-0F4B-B99A-F161F959C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D7A709-F89D-6248-EA28-BD73CEABAB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9B80CA-AE34-1341-4D6B-59B33D6C3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0EBFF-7FDB-4F25-88E6-44D10D5D8792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1E65D-28D0-3B6C-BAC0-3102276D1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66FBA5-2D16-A1F8-6CDD-99FC7BC26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F8B02-3318-4451-8605-DD63C8A21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212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35A55-8003-AEB4-4BA3-6EE98B591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ABDC08-049A-AE36-780F-2BBB8467B6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4F4561-7956-66EF-D36D-7F7BDF5E46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D36F5B-EE63-89F4-047B-FB61636BF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0EBFF-7FDB-4F25-88E6-44D10D5D8792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D6D62-DA04-3F71-3B7F-CA4847F47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40323-888F-E529-EF85-6F6CC26D0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F8B02-3318-4451-8605-DD63C8A21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226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A315A-D878-481B-7682-04A013412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7BD4B3-0E87-FAB4-2214-EB6DF3FAE9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2370F-EBD8-AE42-C31A-0B042DFFC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0EBFF-7FDB-4F25-88E6-44D10D5D8792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A9CD5-EC8D-E595-B2E7-9E072956E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A501E-4504-E0F6-7D16-CD49921AA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F8B02-3318-4451-8605-DD63C8A21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129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8F2168-D0AF-816E-7C91-794EBBB7AC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90BC6E-D1D1-7B70-BCB1-23891D60B6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AF56D-224A-08DC-4C1E-9691B6C71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0EBFF-7FDB-4F25-88E6-44D10D5D8792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B2075-FD59-7379-D028-0EEACA4A8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F6CF4-6079-590F-F08C-CA20773F0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F8B02-3318-4451-8605-DD63C8A21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668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80371F-D497-C1CF-0B78-6409AB55F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089622-E9FE-AD85-33CD-95D1A5CED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456AF-D43E-B560-A73D-243204CADD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70EBFF-7FDB-4F25-88E6-44D10D5D8792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7C52F-A958-0676-D214-B83A23E5AB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64EE3-91B5-C03E-BE55-87766FA20B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6F8B02-3318-4451-8605-DD63C8A21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165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9B2750-4817-BC74-24E4-758AD3889031}"/>
              </a:ext>
            </a:extLst>
          </p:cNvPr>
          <p:cNvSpPr txBox="1"/>
          <p:nvPr/>
        </p:nvSpPr>
        <p:spPr>
          <a:xfrm>
            <a:off x="1995261" y="2644170"/>
            <a:ext cx="8201478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IN" sz="9600" dirty="0">
                <a:solidFill>
                  <a:schemeClr val="bg2"/>
                </a:solidFill>
                <a:latin typeface="Arial Black" panose="020B0A04020102020204" pitchFamily="34" charset="0"/>
              </a:rPr>
              <a:t>TransitSync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8C4B2B-0FCB-E13E-8B47-6B0644B8E9F2}"/>
              </a:ext>
            </a:extLst>
          </p:cNvPr>
          <p:cNvSpPr txBox="1"/>
          <p:nvPr/>
        </p:nvSpPr>
        <p:spPr>
          <a:xfrm>
            <a:off x="2663372" y="4092979"/>
            <a:ext cx="6865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Smart Intermediate Train Route Finder</a:t>
            </a:r>
          </a:p>
        </p:txBody>
      </p:sp>
    </p:spTree>
    <p:extLst>
      <p:ext uri="{BB962C8B-B14F-4D97-AF65-F5344CB8AC3E}">
        <p14:creationId xmlns:p14="http://schemas.microsoft.com/office/powerpoint/2010/main" val="2770120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291749-3162-06F5-EBBD-80EEFF025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C016E7-2B39-3702-1C0B-14782236E039}"/>
              </a:ext>
            </a:extLst>
          </p:cNvPr>
          <p:cNvSpPr txBox="1"/>
          <p:nvPr/>
        </p:nvSpPr>
        <p:spPr>
          <a:xfrm>
            <a:off x="1945369" y="2644170"/>
            <a:ext cx="90578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>
                <a:solidFill>
                  <a:schemeClr val="bg2"/>
                </a:solidFill>
                <a:latin typeface="Arial Black" panose="020B0A04020102020204" pitchFamily="34" charset="0"/>
              </a:rPr>
              <a:t>The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9E8F83-EB4B-AF1E-A4D1-1F6C8444DA12}"/>
              </a:ext>
            </a:extLst>
          </p:cNvPr>
          <p:cNvSpPr txBox="1"/>
          <p:nvPr/>
        </p:nvSpPr>
        <p:spPr>
          <a:xfrm>
            <a:off x="278010" y="6999150"/>
            <a:ext cx="61962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2"/>
                </a:solidFill>
                <a:latin typeface="Arial Rounded MT Bold" panose="020F0704030504030204" pitchFamily="34" charset="0"/>
              </a:rPr>
              <a:t>Rigid Search Constraints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12D4D0-8741-8B44-6402-7385772768F5}"/>
              </a:ext>
            </a:extLst>
          </p:cNvPr>
          <p:cNvSpPr txBox="1"/>
          <p:nvPr/>
        </p:nvSpPr>
        <p:spPr>
          <a:xfrm>
            <a:off x="203202" y="7707035"/>
            <a:ext cx="58996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2">
                    <a:lumMod val="50000"/>
                  </a:schemeClr>
                </a:solidFill>
              </a:rPr>
              <a:t>Platforms like IRCTC only allow searches by Departure Date, ignoring the passenger's actual deadline.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B2DBDD-8203-AF2F-8036-31AE7ACD6285}"/>
              </a:ext>
            </a:extLst>
          </p:cNvPr>
          <p:cNvSpPr txBox="1"/>
          <p:nvPr/>
        </p:nvSpPr>
        <p:spPr>
          <a:xfrm>
            <a:off x="187779" y="9812829"/>
            <a:ext cx="59236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/>
                </a:solidFill>
                <a:latin typeface="Arial Rounded MT Bold" panose="020F0704030504030204" pitchFamily="34" charset="0"/>
              </a:rPr>
              <a:t>Manual Route Patching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33F0F1-B6A3-3711-9758-BA1F0AAE62E4}"/>
              </a:ext>
            </a:extLst>
          </p:cNvPr>
          <p:cNvSpPr txBox="1"/>
          <p:nvPr/>
        </p:nvSpPr>
        <p:spPr>
          <a:xfrm>
            <a:off x="187779" y="10274493"/>
            <a:ext cx="59236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If a direct train is unavailable or mistimed, users must guess hubs and manually piece together tickets.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056B64-2A63-3472-A7E2-59C9818F3371}"/>
              </a:ext>
            </a:extLst>
          </p:cNvPr>
          <p:cNvSpPr txBox="1"/>
          <p:nvPr/>
        </p:nvSpPr>
        <p:spPr>
          <a:xfrm>
            <a:off x="187779" y="10920823"/>
            <a:ext cx="59236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/>
                </a:solidFill>
                <a:latin typeface="Arial Rounded MT Bold" panose="020F0704030504030204" pitchFamily="34" charset="0"/>
              </a:rPr>
              <a:t>High Risk Layovers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38C72A-837F-6C07-73C1-5F717BCC0515}"/>
              </a:ext>
            </a:extLst>
          </p:cNvPr>
          <p:cNvSpPr txBox="1"/>
          <p:nvPr/>
        </p:nvSpPr>
        <p:spPr>
          <a:xfrm>
            <a:off x="187779" y="11382487"/>
            <a:ext cx="59236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Manually calculating safe buffer times between trains is stressful and prone to costly errors.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EB63A7-A855-7BD2-EA33-86D9DBF369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6603" y="7134625"/>
            <a:ext cx="6503433" cy="354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73152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18AD8C-5C6B-22C3-5F72-66402824C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867A2A-A9A3-307C-FB5D-D14B380E2C15}"/>
              </a:ext>
            </a:extLst>
          </p:cNvPr>
          <p:cNvSpPr txBox="1"/>
          <p:nvPr/>
        </p:nvSpPr>
        <p:spPr>
          <a:xfrm>
            <a:off x="187779" y="320070"/>
            <a:ext cx="49774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solidFill>
                  <a:schemeClr val="bg2"/>
                </a:solidFill>
                <a:latin typeface="Arial Black" panose="020B0A04020102020204" pitchFamily="34" charset="0"/>
              </a:rPr>
              <a:t>The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66F4B4-670E-2664-2FAD-7E996BA3D7DF}"/>
              </a:ext>
            </a:extLst>
          </p:cNvPr>
          <p:cNvSpPr txBox="1"/>
          <p:nvPr/>
        </p:nvSpPr>
        <p:spPr>
          <a:xfrm>
            <a:off x="262587" y="1759493"/>
            <a:ext cx="61962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2"/>
                </a:solidFill>
                <a:latin typeface="Arial Rounded MT Bold" panose="020F0704030504030204" pitchFamily="34" charset="0"/>
              </a:rPr>
              <a:t>Rigid Search Constraints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D5336E-5335-BFCC-D12B-5B13ABDB4707}"/>
              </a:ext>
            </a:extLst>
          </p:cNvPr>
          <p:cNvSpPr txBox="1"/>
          <p:nvPr/>
        </p:nvSpPr>
        <p:spPr>
          <a:xfrm>
            <a:off x="187779" y="2467378"/>
            <a:ext cx="58996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2">
                    <a:lumMod val="50000"/>
                  </a:schemeClr>
                </a:solidFill>
              </a:rPr>
              <a:t>Platforms like IRCTC only allow searches by Departure Date, ignoring the passenger's actual deadline.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6A0CE5-83C4-8348-238F-CCA11588BCAC}"/>
              </a:ext>
            </a:extLst>
          </p:cNvPr>
          <p:cNvSpPr txBox="1"/>
          <p:nvPr/>
        </p:nvSpPr>
        <p:spPr>
          <a:xfrm>
            <a:off x="172356" y="4573172"/>
            <a:ext cx="59236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/>
                </a:solidFill>
                <a:latin typeface="Arial Rounded MT Bold" panose="020F0704030504030204" pitchFamily="34" charset="0"/>
              </a:rPr>
              <a:t>Manual Route Patching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4CA0B3-0E7C-3605-A21E-5806CFCF1137}"/>
              </a:ext>
            </a:extLst>
          </p:cNvPr>
          <p:cNvSpPr txBox="1"/>
          <p:nvPr/>
        </p:nvSpPr>
        <p:spPr>
          <a:xfrm>
            <a:off x="172356" y="5034836"/>
            <a:ext cx="59236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If a direct train is unavailable or mistimed, users must guess hubs and manually piece together tickets.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F70DC7-3802-1C40-B181-CF4075068923}"/>
              </a:ext>
            </a:extLst>
          </p:cNvPr>
          <p:cNvSpPr txBox="1"/>
          <p:nvPr/>
        </p:nvSpPr>
        <p:spPr>
          <a:xfrm>
            <a:off x="172356" y="5681166"/>
            <a:ext cx="59236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/>
                </a:solidFill>
                <a:latin typeface="Arial Rounded MT Bold" panose="020F0704030504030204" pitchFamily="34" charset="0"/>
              </a:rPr>
              <a:t>High Risk Layovers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5DFBD9-F188-CFDD-D42B-8BAF1D6B9A80}"/>
              </a:ext>
            </a:extLst>
          </p:cNvPr>
          <p:cNvSpPr txBox="1"/>
          <p:nvPr/>
        </p:nvSpPr>
        <p:spPr>
          <a:xfrm>
            <a:off x="172356" y="6142830"/>
            <a:ext cx="59236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Manually calculating safe buffer times between trains is stressful and prone to costly errors.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B00D19-85CC-F99F-5D41-C92F9A67E3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471" y="2028798"/>
            <a:ext cx="5136750" cy="2800403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3977547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72ADB8-9822-D501-2AE1-90BDDD0A6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9AC1FF-F2A0-195B-BE78-6B56DFF41D5F}"/>
              </a:ext>
            </a:extLst>
          </p:cNvPr>
          <p:cNvSpPr txBox="1"/>
          <p:nvPr/>
        </p:nvSpPr>
        <p:spPr>
          <a:xfrm>
            <a:off x="187779" y="320070"/>
            <a:ext cx="49774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solidFill>
                  <a:schemeClr val="bg2"/>
                </a:solidFill>
                <a:latin typeface="Arial Black" panose="020B0A04020102020204" pitchFamily="34" charset="0"/>
              </a:rPr>
              <a:t>The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3F1514-661D-6CA2-3115-F047DD1B8C70}"/>
              </a:ext>
            </a:extLst>
          </p:cNvPr>
          <p:cNvSpPr txBox="1"/>
          <p:nvPr/>
        </p:nvSpPr>
        <p:spPr>
          <a:xfrm>
            <a:off x="262587" y="1759493"/>
            <a:ext cx="6196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/>
                </a:solidFill>
                <a:latin typeface="Arial Rounded MT Bold" panose="020F0704030504030204" pitchFamily="34" charset="0"/>
              </a:rPr>
              <a:t>Rigid Search Constraints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82F13E-90D2-B0E7-69DA-FE00AFDF5170}"/>
              </a:ext>
            </a:extLst>
          </p:cNvPr>
          <p:cNvSpPr txBox="1"/>
          <p:nvPr/>
        </p:nvSpPr>
        <p:spPr>
          <a:xfrm>
            <a:off x="262587" y="2029365"/>
            <a:ext cx="5899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Platforms like IRCTC only allow searches by Departure Date, ignoring the passenger's actual deadline.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DE9940-5248-4691-B12B-7F58A1667FF4}"/>
              </a:ext>
            </a:extLst>
          </p:cNvPr>
          <p:cNvSpPr txBox="1"/>
          <p:nvPr/>
        </p:nvSpPr>
        <p:spPr>
          <a:xfrm>
            <a:off x="187779" y="3024268"/>
            <a:ext cx="59236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2"/>
                </a:solidFill>
                <a:latin typeface="Arial Rounded MT Bold" panose="020F0704030504030204" pitchFamily="34" charset="0"/>
              </a:rPr>
              <a:t>Manual Route Patching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E93422-7725-573F-FC28-990131697471}"/>
              </a:ext>
            </a:extLst>
          </p:cNvPr>
          <p:cNvSpPr txBox="1"/>
          <p:nvPr/>
        </p:nvSpPr>
        <p:spPr>
          <a:xfrm>
            <a:off x="187779" y="3570005"/>
            <a:ext cx="59236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2">
                    <a:lumMod val="50000"/>
                  </a:schemeClr>
                </a:solidFill>
              </a:rPr>
              <a:t>If a direct train is unavailable or mistimed, users must guess hubs and manually piece together tickets.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C989C6-1673-684C-64CE-6926A347EC81}"/>
              </a:ext>
            </a:extLst>
          </p:cNvPr>
          <p:cNvSpPr txBox="1"/>
          <p:nvPr/>
        </p:nvSpPr>
        <p:spPr>
          <a:xfrm>
            <a:off x="172356" y="5681166"/>
            <a:ext cx="59236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/>
                </a:solidFill>
                <a:latin typeface="Arial Rounded MT Bold" panose="020F0704030504030204" pitchFamily="34" charset="0"/>
              </a:rPr>
              <a:t>High Risk Layovers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A5F03E-EF84-389E-FA3F-CBB26EF3B10D}"/>
              </a:ext>
            </a:extLst>
          </p:cNvPr>
          <p:cNvSpPr txBox="1"/>
          <p:nvPr/>
        </p:nvSpPr>
        <p:spPr>
          <a:xfrm>
            <a:off x="172356" y="6142830"/>
            <a:ext cx="59236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Manually calculating safe buffer times between trains is stressful and prone to costly errors.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F5771B-A66A-CB4F-0140-8FB8C7DFD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070" y="1868296"/>
            <a:ext cx="5555343" cy="312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3393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039A72-1113-73BB-8B93-D72E1483E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81B7A4-C2BF-1844-F442-52891C9179B2}"/>
              </a:ext>
            </a:extLst>
          </p:cNvPr>
          <p:cNvSpPr txBox="1"/>
          <p:nvPr/>
        </p:nvSpPr>
        <p:spPr>
          <a:xfrm>
            <a:off x="187779" y="320070"/>
            <a:ext cx="49774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solidFill>
                  <a:schemeClr val="bg2"/>
                </a:solidFill>
                <a:latin typeface="Arial Black" panose="020B0A04020102020204" pitchFamily="34" charset="0"/>
              </a:rPr>
              <a:t>The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0F8484-FDFD-0080-2DC3-5AE22DEED476}"/>
              </a:ext>
            </a:extLst>
          </p:cNvPr>
          <p:cNvSpPr txBox="1"/>
          <p:nvPr/>
        </p:nvSpPr>
        <p:spPr>
          <a:xfrm>
            <a:off x="262587" y="1759493"/>
            <a:ext cx="6196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/>
                </a:solidFill>
                <a:latin typeface="Arial Rounded MT Bold" panose="020F0704030504030204" pitchFamily="34" charset="0"/>
              </a:rPr>
              <a:t>Rigid Search Constraints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6DFCD6-9E2B-88DE-8B4A-7E0C43D3F572}"/>
              </a:ext>
            </a:extLst>
          </p:cNvPr>
          <p:cNvSpPr txBox="1"/>
          <p:nvPr/>
        </p:nvSpPr>
        <p:spPr>
          <a:xfrm>
            <a:off x="262587" y="2029365"/>
            <a:ext cx="5899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Platforms like IRCTC only allow searches by Departure Date, ignoring the passenger's actual deadline.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C5F4C6-FA4E-423B-72B1-0F7B80222C78}"/>
              </a:ext>
            </a:extLst>
          </p:cNvPr>
          <p:cNvSpPr txBox="1"/>
          <p:nvPr/>
        </p:nvSpPr>
        <p:spPr>
          <a:xfrm>
            <a:off x="187779" y="3024268"/>
            <a:ext cx="59236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/>
                </a:solidFill>
                <a:latin typeface="Arial Rounded MT Bold" panose="020F0704030504030204" pitchFamily="34" charset="0"/>
              </a:rPr>
              <a:t>Manual Route Patching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804AB6-D67C-A64D-A83B-B2DD54F77015}"/>
              </a:ext>
            </a:extLst>
          </p:cNvPr>
          <p:cNvSpPr txBox="1"/>
          <p:nvPr/>
        </p:nvSpPr>
        <p:spPr>
          <a:xfrm>
            <a:off x="187779" y="3294140"/>
            <a:ext cx="59236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If a direct train is unavailable or mistimed, users must guess hubs and manually piece together tickets.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BBFED0-B31D-D425-D1B9-DDE2DB53AF02}"/>
              </a:ext>
            </a:extLst>
          </p:cNvPr>
          <p:cNvSpPr txBox="1"/>
          <p:nvPr/>
        </p:nvSpPr>
        <p:spPr>
          <a:xfrm>
            <a:off x="172356" y="3996655"/>
            <a:ext cx="59236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2"/>
                </a:solidFill>
                <a:latin typeface="Arial Rounded MT Bold" panose="020F0704030504030204" pitchFamily="34" charset="0"/>
              </a:rPr>
              <a:t>High Risk Layovers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96AA0A-1744-5816-A676-07C57E76A676}"/>
              </a:ext>
            </a:extLst>
          </p:cNvPr>
          <p:cNvSpPr txBox="1"/>
          <p:nvPr/>
        </p:nvSpPr>
        <p:spPr>
          <a:xfrm>
            <a:off x="172356" y="4543525"/>
            <a:ext cx="59236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2">
                    <a:lumMod val="50000"/>
                  </a:schemeClr>
                </a:solidFill>
              </a:rPr>
              <a:t>Manually calculating safe buffer times between trains is stressful and prone to costly errors.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5999196-3315-61F5-C278-DE6680E2BF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857" y="2098047"/>
            <a:ext cx="5363029" cy="296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798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8A8C86-7E47-CFAE-5329-868515625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23F55F-6B5D-EFC2-CDB3-4DCAA15A4D24}"/>
              </a:ext>
            </a:extLst>
          </p:cNvPr>
          <p:cNvSpPr txBox="1"/>
          <p:nvPr/>
        </p:nvSpPr>
        <p:spPr>
          <a:xfrm>
            <a:off x="1665081" y="2644170"/>
            <a:ext cx="886183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>
                <a:solidFill>
                  <a:schemeClr val="bg2"/>
                </a:solidFill>
                <a:latin typeface="Arial Black" panose="020B0A04020102020204" pitchFamily="34" charset="0"/>
              </a:rPr>
              <a:t>The Solution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33C76A-9549-7048-5F55-0B86BCDB7004}"/>
              </a:ext>
            </a:extLst>
          </p:cNvPr>
          <p:cNvSpPr txBox="1"/>
          <p:nvPr/>
        </p:nvSpPr>
        <p:spPr>
          <a:xfrm>
            <a:off x="187779" y="8089030"/>
            <a:ext cx="6536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2"/>
                </a:solidFill>
                <a:latin typeface="Arial Rounded MT Bold" panose="020F0704030504030204" pitchFamily="34" charset="0"/>
              </a:rPr>
              <a:t>Intelligent Transit Graphs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57CC27-412A-F1D8-50BF-BE3D8666AFFA}"/>
              </a:ext>
            </a:extLst>
          </p:cNvPr>
          <p:cNvSpPr txBox="1"/>
          <p:nvPr/>
        </p:nvSpPr>
        <p:spPr>
          <a:xfrm>
            <a:off x="187779" y="8786263"/>
            <a:ext cx="5527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2">
                    <a:lumMod val="50000"/>
                  </a:schemeClr>
                </a:solidFill>
              </a:rPr>
              <a:t>You tell us when you need to arrive, and we compute the math backwards.</a:t>
            </a:r>
            <a:endParaRPr lang="en-IN" sz="2400" dirty="0">
              <a:solidFill>
                <a:schemeClr val="bg2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5EF188-C392-79E8-6FCA-A375A3CF81FA}"/>
              </a:ext>
            </a:extLst>
          </p:cNvPr>
          <p:cNvSpPr txBox="1"/>
          <p:nvPr/>
        </p:nvSpPr>
        <p:spPr>
          <a:xfrm>
            <a:off x="187779" y="10028366"/>
            <a:ext cx="532039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2">
                    <a:lumMod val="50000"/>
                  </a:schemeClr>
                </a:solidFill>
              </a:rPr>
              <a:t>Our graph-based algorithm automatically computes multi-leg journeys (A → C → B) when direct routes are unavailable, instantly uncovering hidden possibilities.</a:t>
            </a:r>
            <a:endParaRPr lang="en-IN" sz="2400" b="1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C3C6A66-34E3-FA04-595C-34929D7C3D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2" y="7309653"/>
            <a:ext cx="5708584" cy="271871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9A9911B-5A92-159A-F143-F6FEF8D05F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4449" y="10297392"/>
            <a:ext cx="5513689" cy="2667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48881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117582-4BEF-2876-0D93-0C7CAD468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A5306B-8D9B-2607-A214-C1F90025A1F3}"/>
              </a:ext>
            </a:extLst>
          </p:cNvPr>
          <p:cNvSpPr txBox="1"/>
          <p:nvPr/>
        </p:nvSpPr>
        <p:spPr>
          <a:xfrm>
            <a:off x="187779" y="320070"/>
            <a:ext cx="49774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solidFill>
                  <a:schemeClr val="bg2"/>
                </a:solidFill>
                <a:latin typeface="Arial Black" panose="020B0A04020102020204" pitchFamily="34" charset="0"/>
              </a:rPr>
              <a:t>The Solution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2D88CB-8899-B3AF-FAA4-9574AB78476C}"/>
              </a:ext>
            </a:extLst>
          </p:cNvPr>
          <p:cNvSpPr txBox="1"/>
          <p:nvPr/>
        </p:nvSpPr>
        <p:spPr>
          <a:xfrm>
            <a:off x="187779" y="1771357"/>
            <a:ext cx="6536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2"/>
                </a:solidFill>
                <a:latin typeface="Arial Rounded MT Bold" panose="020F0704030504030204" pitchFamily="34" charset="0"/>
              </a:rPr>
              <a:t>Intelligent Transit Graphs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CDE677-9624-7194-C924-9CB95F5738F0}"/>
              </a:ext>
            </a:extLst>
          </p:cNvPr>
          <p:cNvSpPr txBox="1"/>
          <p:nvPr/>
        </p:nvSpPr>
        <p:spPr>
          <a:xfrm>
            <a:off x="187779" y="2468590"/>
            <a:ext cx="5527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2">
                    <a:lumMod val="50000"/>
                  </a:schemeClr>
                </a:solidFill>
              </a:rPr>
              <a:t>You tell us when you need to arrive, and we compute the math backwards.</a:t>
            </a:r>
            <a:endParaRPr lang="en-IN" sz="2400" dirty="0">
              <a:solidFill>
                <a:schemeClr val="bg2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BE8ED1-811C-6707-AB6A-3AA685ED9D37}"/>
              </a:ext>
            </a:extLst>
          </p:cNvPr>
          <p:cNvSpPr txBox="1"/>
          <p:nvPr/>
        </p:nvSpPr>
        <p:spPr>
          <a:xfrm>
            <a:off x="187779" y="3710693"/>
            <a:ext cx="532039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2">
                    <a:lumMod val="50000"/>
                  </a:schemeClr>
                </a:solidFill>
              </a:rPr>
              <a:t>Our graph-based algorithm automatically computes multi-leg journeys (A → C → B) when direct routes are unavailable, instantly uncovering hidden possibilities.</a:t>
            </a:r>
            <a:endParaRPr lang="en-IN" sz="2400" b="1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5266CE-BAB3-333E-3F84-4C2EEFC85F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1604909"/>
            <a:ext cx="6201938" cy="338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817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7773A9-11A7-1B4F-7F07-85A064139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AB478D-AD66-1030-0F6A-1DCDF05917C0}"/>
              </a:ext>
            </a:extLst>
          </p:cNvPr>
          <p:cNvSpPr txBox="1"/>
          <p:nvPr/>
        </p:nvSpPr>
        <p:spPr>
          <a:xfrm>
            <a:off x="1177315" y="2644170"/>
            <a:ext cx="983737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>
                <a:solidFill>
                  <a:schemeClr val="bg2"/>
                </a:solidFill>
                <a:latin typeface="Arial Black" panose="020B0A04020102020204" pitchFamily="34" charset="0"/>
              </a:rPr>
              <a:t>Core Features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F85148-98CF-C697-1CC6-AF3D816B8CB0}"/>
              </a:ext>
            </a:extLst>
          </p:cNvPr>
          <p:cNvGrpSpPr/>
          <p:nvPr/>
        </p:nvGrpSpPr>
        <p:grpSpPr>
          <a:xfrm>
            <a:off x="4357497" y="6858000"/>
            <a:ext cx="3664020" cy="5109433"/>
            <a:chOff x="124237" y="1657127"/>
            <a:chExt cx="3664020" cy="5109433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8F3AC24-59B4-F94F-A980-8F471A3446D0}"/>
                </a:ext>
              </a:extLst>
            </p:cNvPr>
            <p:cNvGrpSpPr/>
            <p:nvPr/>
          </p:nvGrpSpPr>
          <p:grpSpPr>
            <a:xfrm>
              <a:off x="124237" y="1657127"/>
              <a:ext cx="3664020" cy="5109433"/>
              <a:chOff x="232302" y="1711642"/>
              <a:chExt cx="3664020" cy="5109433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8E2CFCA9-85F1-3136-DA3B-7EAB616D85D6}"/>
                  </a:ext>
                </a:extLst>
              </p:cNvPr>
              <p:cNvSpPr/>
              <p:nvPr/>
            </p:nvSpPr>
            <p:spPr>
              <a:xfrm>
                <a:off x="232303" y="1711642"/>
                <a:ext cx="3664019" cy="5109433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8618F2D0-58B4-502F-0F60-0CFABD01609A}"/>
                  </a:ext>
                </a:extLst>
              </p:cNvPr>
              <p:cNvGrpSpPr/>
              <p:nvPr/>
            </p:nvGrpSpPr>
            <p:grpSpPr>
              <a:xfrm>
                <a:off x="232302" y="4165173"/>
                <a:ext cx="3664020" cy="1749642"/>
                <a:chOff x="187779" y="2315898"/>
                <a:chExt cx="6536872" cy="1477328"/>
              </a:xfrm>
            </p:grpSpPr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215203E4-5F08-67C6-7D18-F752674C81D5}"/>
                    </a:ext>
                  </a:extLst>
                </p:cNvPr>
                <p:cNvSpPr txBox="1"/>
                <p:nvPr/>
              </p:nvSpPr>
              <p:spPr>
                <a:xfrm>
                  <a:off x="187779" y="2315898"/>
                  <a:ext cx="653687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400" b="1" dirty="0">
                      <a:solidFill>
                        <a:schemeClr val="bg2"/>
                      </a:solidFill>
                      <a:latin typeface="Arial Rounded MT Bold" panose="020F0704030504030204" pitchFamily="34" charset="0"/>
                    </a:rPr>
                    <a:t>Arrival First Search</a:t>
                  </a: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0AEF894-6F33-B362-389C-E2375AB762E6}"/>
                    </a:ext>
                  </a:extLst>
                </p:cNvPr>
                <p:cNvSpPr txBox="1"/>
                <p:nvPr/>
              </p:nvSpPr>
              <p:spPr>
                <a:xfrm>
                  <a:off x="187779" y="2777563"/>
                  <a:ext cx="6536872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000" dirty="0">
                      <a:solidFill>
                        <a:schemeClr val="bg2">
                          <a:lumMod val="50000"/>
                        </a:schemeClr>
                      </a:solidFill>
                    </a:rPr>
                    <a:t>Input a strict arrival deadline. The engine filters all possible permutations to ensure you reach your destination on time.</a:t>
                  </a:r>
                  <a:endParaRPr lang="en-IN" sz="2000" dirty="0">
                    <a:solidFill>
                      <a:schemeClr val="bg2">
                        <a:lumMod val="50000"/>
                      </a:schemeClr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</p:grp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95BC768C-FFF3-6DB7-8F95-810062969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2874" y="2020255"/>
              <a:ext cx="1846746" cy="1860311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A0AD088-2CD1-1D81-118D-C78BADF93CDF}"/>
              </a:ext>
            </a:extLst>
          </p:cNvPr>
          <p:cNvGrpSpPr/>
          <p:nvPr/>
        </p:nvGrpSpPr>
        <p:grpSpPr>
          <a:xfrm>
            <a:off x="4357498" y="7474820"/>
            <a:ext cx="3664019" cy="5109433"/>
            <a:chOff x="8366356" y="1657127"/>
            <a:chExt cx="3664019" cy="510943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D822E69-4E4B-E434-787A-DA488D0A6778}"/>
                </a:ext>
              </a:extLst>
            </p:cNvPr>
            <p:cNvGrpSpPr/>
            <p:nvPr/>
          </p:nvGrpSpPr>
          <p:grpSpPr>
            <a:xfrm>
              <a:off x="8366356" y="1657127"/>
              <a:ext cx="3664019" cy="5109433"/>
              <a:chOff x="8474421" y="1711642"/>
              <a:chExt cx="3664019" cy="5109433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ED4C5AB0-3BFD-0C3D-27A1-20A66208357E}"/>
                  </a:ext>
                </a:extLst>
              </p:cNvPr>
              <p:cNvSpPr/>
              <p:nvPr/>
            </p:nvSpPr>
            <p:spPr>
              <a:xfrm>
                <a:off x="8474421" y="1711642"/>
                <a:ext cx="3664019" cy="5109433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D2EE9EB1-F421-B8AA-9EF6-88EA3C53B029}"/>
                  </a:ext>
                </a:extLst>
              </p:cNvPr>
              <p:cNvGrpSpPr/>
              <p:nvPr/>
            </p:nvGrpSpPr>
            <p:grpSpPr>
              <a:xfrm>
                <a:off x="8711352" y="4165173"/>
                <a:ext cx="3306535" cy="1903617"/>
                <a:chOff x="6294665" y="2903471"/>
                <a:chExt cx="6536872" cy="1169551"/>
              </a:xfrm>
            </p:grpSpPr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66B754DA-0394-20D5-3A6B-3C552769BD09}"/>
                    </a:ext>
                  </a:extLst>
                </p:cNvPr>
                <p:cNvSpPr txBox="1"/>
                <p:nvPr/>
              </p:nvSpPr>
              <p:spPr>
                <a:xfrm>
                  <a:off x="6294665" y="2903471"/>
                  <a:ext cx="653687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400" b="1" dirty="0">
                      <a:solidFill>
                        <a:schemeClr val="bg2"/>
                      </a:solidFill>
                      <a:latin typeface="Arial Rounded MT Bold" panose="020F0704030504030204" pitchFamily="34" charset="0"/>
                    </a:rPr>
                    <a:t>Smart Auto Connect</a:t>
                  </a:r>
                </a:p>
              </p:txBody>
            </p:sp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35828587-CCFA-27CF-EB90-1349628E8524}"/>
                    </a:ext>
                  </a:extLst>
                </p:cNvPr>
                <p:cNvSpPr txBox="1"/>
                <p:nvPr/>
              </p:nvSpPr>
              <p:spPr>
                <a:xfrm>
                  <a:off x="6294665" y="3365136"/>
                  <a:ext cx="6536872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000" dirty="0">
                      <a:solidFill>
                        <a:schemeClr val="bg2">
                          <a:lumMod val="50000"/>
                        </a:schemeClr>
                      </a:solidFill>
                    </a:rPr>
                    <a:t>Seamlessly splices different trains at logical transit hubs to create viable itineraries when direct routes are sold out.</a:t>
                  </a:r>
                  <a:endParaRPr lang="en-IN" sz="2000" dirty="0">
                    <a:solidFill>
                      <a:schemeClr val="bg2">
                        <a:lumMod val="50000"/>
                      </a:schemeClr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</p:grp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F9B43861-8ED7-EDED-28B4-389BA63301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2376" y="2080029"/>
              <a:ext cx="1891978" cy="1891978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A799FC7-D028-53E5-C312-76F34D4947CD}"/>
              </a:ext>
            </a:extLst>
          </p:cNvPr>
          <p:cNvGrpSpPr/>
          <p:nvPr/>
        </p:nvGrpSpPr>
        <p:grpSpPr>
          <a:xfrm>
            <a:off x="4357498" y="8321488"/>
            <a:ext cx="3664019" cy="5109433"/>
            <a:chOff x="4296705" y="1657127"/>
            <a:chExt cx="3664019" cy="5109433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27CF548-9CCE-0179-33DF-17AEFF2D005B}"/>
                </a:ext>
              </a:extLst>
            </p:cNvPr>
            <p:cNvGrpSpPr/>
            <p:nvPr/>
          </p:nvGrpSpPr>
          <p:grpSpPr>
            <a:xfrm>
              <a:off x="4296705" y="1657127"/>
              <a:ext cx="3664019" cy="5109433"/>
              <a:chOff x="4404770" y="1711642"/>
              <a:chExt cx="3664019" cy="5109433"/>
            </a:xfrm>
          </p:grpSpPr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A707B5A4-165D-95CC-ABE6-A74C7AA7B772}"/>
                  </a:ext>
                </a:extLst>
              </p:cNvPr>
              <p:cNvSpPr/>
              <p:nvPr/>
            </p:nvSpPr>
            <p:spPr>
              <a:xfrm>
                <a:off x="4404770" y="1711642"/>
                <a:ext cx="3664019" cy="5109433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17C197D8-1211-3017-376C-D8EB89F60539}"/>
                  </a:ext>
                </a:extLst>
              </p:cNvPr>
              <p:cNvGrpSpPr/>
              <p:nvPr/>
            </p:nvGrpSpPr>
            <p:grpSpPr>
              <a:xfrm>
                <a:off x="4404770" y="4165173"/>
                <a:ext cx="3664019" cy="2340033"/>
                <a:chOff x="410936" y="4694171"/>
                <a:chExt cx="6536872" cy="1477328"/>
              </a:xfrm>
            </p:grpSpPr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C35FF93-B1C0-32F3-403C-17A82F0812EF}"/>
                    </a:ext>
                  </a:extLst>
                </p:cNvPr>
                <p:cNvSpPr txBox="1"/>
                <p:nvPr/>
              </p:nvSpPr>
              <p:spPr>
                <a:xfrm>
                  <a:off x="410936" y="4694171"/>
                  <a:ext cx="653687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400" b="1" dirty="0">
                      <a:solidFill>
                        <a:schemeClr val="bg2"/>
                      </a:solidFill>
                      <a:latin typeface="Arial Rounded MT Bold" panose="020F0704030504030204" pitchFamily="34" charset="0"/>
                    </a:rPr>
                    <a:t>Buffer Optimization</a:t>
                  </a: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6A8A066-34B9-3244-5B39-FB5DE182E28B}"/>
                    </a:ext>
                  </a:extLst>
                </p:cNvPr>
                <p:cNvSpPr txBox="1"/>
                <p:nvPr/>
              </p:nvSpPr>
              <p:spPr>
                <a:xfrm>
                  <a:off x="410936" y="5155836"/>
                  <a:ext cx="6536872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000" dirty="0">
                      <a:solidFill>
                        <a:schemeClr val="bg2">
                          <a:lumMod val="50000"/>
                        </a:schemeClr>
                      </a:solidFill>
                    </a:rPr>
                    <a:t>Automatically enforces safe layover windows (e.g., min 45 mins) to protect against historical delay data of the first leg.</a:t>
                  </a:r>
                  <a:endParaRPr lang="en-IN" sz="2000" dirty="0">
                    <a:solidFill>
                      <a:schemeClr val="bg2">
                        <a:lumMod val="50000"/>
                      </a:schemeClr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</p:grp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C8A2319C-FC96-CB2C-6339-B945BDB4FD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67292" y="2113951"/>
              <a:ext cx="1857416" cy="18574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2569640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07BA4F-6393-399C-8906-9CE6A4EF6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D71B21-F6DB-2C9C-9EE0-BFBAD6919C2E}"/>
              </a:ext>
            </a:extLst>
          </p:cNvPr>
          <p:cNvSpPr txBox="1"/>
          <p:nvPr/>
        </p:nvSpPr>
        <p:spPr>
          <a:xfrm>
            <a:off x="187779" y="320070"/>
            <a:ext cx="5505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solidFill>
                  <a:schemeClr val="bg2"/>
                </a:solidFill>
                <a:latin typeface="Arial Black" panose="020B0A04020102020204" pitchFamily="34" charset="0"/>
              </a:rPr>
              <a:t>Core Features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51ED5E5-ECE5-BF1E-0897-9485852C9D13}"/>
              </a:ext>
            </a:extLst>
          </p:cNvPr>
          <p:cNvGrpSpPr/>
          <p:nvPr/>
        </p:nvGrpSpPr>
        <p:grpSpPr>
          <a:xfrm>
            <a:off x="4324783" y="1265406"/>
            <a:ext cx="3664020" cy="5109433"/>
            <a:chOff x="124237" y="1657127"/>
            <a:chExt cx="3664020" cy="5109433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C2E9AF6-8C73-495E-3668-F9C67111F031}"/>
                </a:ext>
              </a:extLst>
            </p:cNvPr>
            <p:cNvGrpSpPr/>
            <p:nvPr/>
          </p:nvGrpSpPr>
          <p:grpSpPr>
            <a:xfrm>
              <a:off x="124237" y="1657127"/>
              <a:ext cx="3664020" cy="5109433"/>
              <a:chOff x="232302" y="1711642"/>
              <a:chExt cx="3664020" cy="5109433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F38829BD-CD6F-8EF1-126D-46A02CFCC61B}"/>
                  </a:ext>
                </a:extLst>
              </p:cNvPr>
              <p:cNvSpPr/>
              <p:nvPr/>
            </p:nvSpPr>
            <p:spPr>
              <a:xfrm>
                <a:off x="232303" y="1711642"/>
                <a:ext cx="3664019" cy="5109433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11B45DE0-6F05-6907-2ACB-514F4691B64B}"/>
                  </a:ext>
                </a:extLst>
              </p:cNvPr>
              <p:cNvGrpSpPr/>
              <p:nvPr/>
            </p:nvGrpSpPr>
            <p:grpSpPr>
              <a:xfrm>
                <a:off x="232302" y="4165173"/>
                <a:ext cx="3664020" cy="1749642"/>
                <a:chOff x="187779" y="2315898"/>
                <a:chExt cx="6536872" cy="1477328"/>
              </a:xfrm>
            </p:grpSpPr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03BBB88F-79B2-8E37-B3FC-D6D58AC29914}"/>
                    </a:ext>
                  </a:extLst>
                </p:cNvPr>
                <p:cNvSpPr txBox="1"/>
                <p:nvPr/>
              </p:nvSpPr>
              <p:spPr>
                <a:xfrm>
                  <a:off x="187779" y="2315898"/>
                  <a:ext cx="653687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400" b="1" dirty="0">
                      <a:solidFill>
                        <a:schemeClr val="bg2"/>
                      </a:solidFill>
                      <a:latin typeface="Arial Rounded MT Bold" panose="020F0704030504030204" pitchFamily="34" charset="0"/>
                    </a:rPr>
                    <a:t>Arrival First Search</a:t>
                  </a: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3EFEA77-E679-2BAD-C48B-2B8E31B38F69}"/>
                    </a:ext>
                  </a:extLst>
                </p:cNvPr>
                <p:cNvSpPr txBox="1"/>
                <p:nvPr/>
              </p:nvSpPr>
              <p:spPr>
                <a:xfrm>
                  <a:off x="187779" y="2777563"/>
                  <a:ext cx="6536872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000" dirty="0">
                      <a:solidFill>
                        <a:schemeClr val="bg2">
                          <a:lumMod val="50000"/>
                        </a:schemeClr>
                      </a:solidFill>
                    </a:rPr>
                    <a:t>Input a strict arrival deadline. The engine filters all possible permutations to ensure you reach your destination on time.</a:t>
                  </a:r>
                  <a:endParaRPr lang="en-IN" sz="2000" dirty="0">
                    <a:solidFill>
                      <a:schemeClr val="bg2">
                        <a:lumMod val="50000"/>
                      </a:schemeClr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</p:grp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04D9280-55D7-E86B-20D0-9602B1371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2874" y="2020255"/>
              <a:ext cx="1846746" cy="1860311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BDBC4EB-853E-0461-97AC-B3ACC8BB5E55}"/>
              </a:ext>
            </a:extLst>
          </p:cNvPr>
          <p:cNvGrpSpPr/>
          <p:nvPr/>
        </p:nvGrpSpPr>
        <p:grpSpPr>
          <a:xfrm>
            <a:off x="4357498" y="7474820"/>
            <a:ext cx="3664019" cy="5109433"/>
            <a:chOff x="8366356" y="1657127"/>
            <a:chExt cx="3664019" cy="510943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88DE287-1995-BD79-6FF1-65D472BDA7F0}"/>
                </a:ext>
              </a:extLst>
            </p:cNvPr>
            <p:cNvGrpSpPr/>
            <p:nvPr/>
          </p:nvGrpSpPr>
          <p:grpSpPr>
            <a:xfrm>
              <a:off x="8366356" y="1657127"/>
              <a:ext cx="3664019" cy="5109433"/>
              <a:chOff x="8474421" y="1711642"/>
              <a:chExt cx="3664019" cy="5109433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E45085FA-2729-4C6A-AACC-F4853DA1471C}"/>
                  </a:ext>
                </a:extLst>
              </p:cNvPr>
              <p:cNvSpPr/>
              <p:nvPr/>
            </p:nvSpPr>
            <p:spPr>
              <a:xfrm>
                <a:off x="8474421" y="1711642"/>
                <a:ext cx="3664019" cy="5109433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9F5B2999-7C51-246B-9883-F4C919137CAC}"/>
                  </a:ext>
                </a:extLst>
              </p:cNvPr>
              <p:cNvGrpSpPr/>
              <p:nvPr/>
            </p:nvGrpSpPr>
            <p:grpSpPr>
              <a:xfrm>
                <a:off x="8711352" y="4165173"/>
                <a:ext cx="3306535" cy="1903617"/>
                <a:chOff x="6294665" y="2903471"/>
                <a:chExt cx="6536872" cy="1169551"/>
              </a:xfrm>
            </p:grpSpPr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88CC0A1F-A533-4332-4AFF-37E6D6D59692}"/>
                    </a:ext>
                  </a:extLst>
                </p:cNvPr>
                <p:cNvSpPr txBox="1"/>
                <p:nvPr/>
              </p:nvSpPr>
              <p:spPr>
                <a:xfrm>
                  <a:off x="6294665" y="2903471"/>
                  <a:ext cx="653687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400" b="1" dirty="0">
                      <a:solidFill>
                        <a:schemeClr val="bg2"/>
                      </a:solidFill>
                      <a:latin typeface="Arial Rounded MT Bold" panose="020F0704030504030204" pitchFamily="34" charset="0"/>
                    </a:rPr>
                    <a:t>Smart Auto Connect</a:t>
                  </a:r>
                </a:p>
              </p:txBody>
            </p:sp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04E61069-4699-334E-7467-B3FAF4D400F1}"/>
                    </a:ext>
                  </a:extLst>
                </p:cNvPr>
                <p:cNvSpPr txBox="1"/>
                <p:nvPr/>
              </p:nvSpPr>
              <p:spPr>
                <a:xfrm>
                  <a:off x="6294665" y="3365136"/>
                  <a:ext cx="6536872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000" dirty="0">
                      <a:solidFill>
                        <a:schemeClr val="bg2">
                          <a:lumMod val="50000"/>
                        </a:schemeClr>
                      </a:solidFill>
                    </a:rPr>
                    <a:t>Seamlessly splices different trains at logical transit hubs to create viable itineraries when direct routes are sold out.</a:t>
                  </a:r>
                  <a:endParaRPr lang="en-IN" sz="2000" dirty="0">
                    <a:solidFill>
                      <a:schemeClr val="bg2">
                        <a:lumMod val="50000"/>
                      </a:schemeClr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</p:grp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BE65F1D2-591E-2866-4C20-ECCA367B5D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2376" y="2080029"/>
              <a:ext cx="1891978" cy="1891978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D9FBA8F-2802-0A8D-8932-15949DE7AE3C}"/>
              </a:ext>
            </a:extLst>
          </p:cNvPr>
          <p:cNvGrpSpPr/>
          <p:nvPr/>
        </p:nvGrpSpPr>
        <p:grpSpPr>
          <a:xfrm>
            <a:off x="4357498" y="8321488"/>
            <a:ext cx="3664019" cy="5109433"/>
            <a:chOff x="4296705" y="1657127"/>
            <a:chExt cx="3664019" cy="5109433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2E4FDA5-507D-147C-3715-4B37A0637302}"/>
                </a:ext>
              </a:extLst>
            </p:cNvPr>
            <p:cNvGrpSpPr/>
            <p:nvPr/>
          </p:nvGrpSpPr>
          <p:grpSpPr>
            <a:xfrm>
              <a:off x="4296705" y="1657127"/>
              <a:ext cx="3664019" cy="5109433"/>
              <a:chOff x="4404770" y="1711642"/>
              <a:chExt cx="3664019" cy="5109433"/>
            </a:xfrm>
          </p:grpSpPr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E251D3AD-2973-E967-15E4-BE86940E1484}"/>
                  </a:ext>
                </a:extLst>
              </p:cNvPr>
              <p:cNvSpPr/>
              <p:nvPr/>
            </p:nvSpPr>
            <p:spPr>
              <a:xfrm>
                <a:off x="4404770" y="1711642"/>
                <a:ext cx="3664019" cy="5109433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6A1DC105-400E-05D2-07BC-312709FE0748}"/>
                  </a:ext>
                </a:extLst>
              </p:cNvPr>
              <p:cNvGrpSpPr/>
              <p:nvPr/>
            </p:nvGrpSpPr>
            <p:grpSpPr>
              <a:xfrm>
                <a:off x="4404770" y="4165173"/>
                <a:ext cx="3664019" cy="2340033"/>
                <a:chOff x="410936" y="4694171"/>
                <a:chExt cx="6536872" cy="1477328"/>
              </a:xfrm>
            </p:grpSpPr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872A454E-6A28-A46C-0931-3AC1EE7ED42E}"/>
                    </a:ext>
                  </a:extLst>
                </p:cNvPr>
                <p:cNvSpPr txBox="1"/>
                <p:nvPr/>
              </p:nvSpPr>
              <p:spPr>
                <a:xfrm>
                  <a:off x="410936" y="4694171"/>
                  <a:ext cx="653687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400" b="1" dirty="0">
                      <a:solidFill>
                        <a:schemeClr val="bg2"/>
                      </a:solidFill>
                      <a:latin typeface="Arial Rounded MT Bold" panose="020F0704030504030204" pitchFamily="34" charset="0"/>
                    </a:rPr>
                    <a:t>Buffer Optimization</a:t>
                  </a: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A145363-C9C1-1B73-7C62-A81A2A6ACCF7}"/>
                    </a:ext>
                  </a:extLst>
                </p:cNvPr>
                <p:cNvSpPr txBox="1"/>
                <p:nvPr/>
              </p:nvSpPr>
              <p:spPr>
                <a:xfrm>
                  <a:off x="410936" y="5155836"/>
                  <a:ext cx="6536872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000" dirty="0">
                      <a:solidFill>
                        <a:schemeClr val="bg2">
                          <a:lumMod val="50000"/>
                        </a:schemeClr>
                      </a:solidFill>
                    </a:rPr>
                    <a:t>Automatically enforces safe layover windows (e.g., min 45 mins) to protect against historical delay data of the first leg.</a:t>
                  </a:r>
                  <a:endParaRPr lang="en-IN" sz="2000" dirty="0">
                    <a:solidFill>
                      <a:schemeClr val="bg2">
                        <a:lumMod val="50000"/>
                      </a:schemeClr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</p:grp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A8DB53B7-9919-A885-BC18-8067A1EAC7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67292" y="2113951"/>
              <a:ext cx="1857416" cy="18574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517246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DDC551-35AD-F6FB-23B4-5246D1470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805EBE-8A7A-8135-7D6C-1139A55A4756}"/>
              </a:ext>
            </a:extLst>
          </p:cNvPr>
          <p:cNvSpPr txBox="1"/>
          <p:nvPr/>
        </p:nvSpPr>
        <p:spPr>
          <a:xfrm>
            <a:off x="187779" y="320070"/>
            <a:ext cx="5505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solidFill>
                  <a:schemeClr val="bg2"/>
                </a:solidFill>
                <a:latin typeface="Arial Black" panose="020B0A04020102020204" pitchFamily="34" charset="0"/>
              </a:rPr>
              <a:t>Core Features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92F3B42-B30D-0A11-7143-11672A662912}"/>
              </a:ext>
            </a:extLst>
          </p:cNvPr>
          <p:cNvGrpSpPr/>
          <p:nvPr/>
        </p:nvGrpSpPr>
        <p:grpSpPr>
          <a:xfrm>
            <a:off x="417801" y="1340220"/>
            <a:ext cx="3664020" cy="5109433"/>
            <a:chOff x="124237" y="1657127"/>
            <a:chExt cx="3664020" cy="5109433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882BC7D-7C8D-4BEB-F9EE-28CF90BF13C9}"/>
                </a:ext>
              </a:extLst>
            </p:cNvPr>
            <p:cNvGrpSpPr/>
            <p:nvPr/>
          </p:nvGrpSpPr>
          <p:grpSpPr>
            <a:xfrm>
              <a:off x="124237" y="1657127"/>
              <a:ext cx="3664020" cy="5109433"/>
              <a:chOff x="232302" y="1711642"/>
              <a:chExt cx="3664020" cy="5109433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E870C2E1-9FEC-4A57-77F2-85154E03D429}"/>
                  </a:ext>
                </a:extLst>
              </p:cNvPr>
              <p:cNvSpPr/>
              <p:nvPr/>
            </p:nvSpPr>
            <p:spPr>
              <a:xfrm>
                <a:off x="232303" y="1711642"/>
                <a:ext cx="3664019" cy="5109433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F596235C-DDE2-4E1F-23DD-95CD4DB1F3B7}"/>
                  </a:ext>
                </a:extLst>
              </p:cNvPr>
              <p:cNvGrpSpPr/>
              <p:nvPr/>
            </p:nvGrpSpPr>
            <p:grpSpPr>
              <a:xfrm>
                <a:off x="232302" y="4165173"/>
                <a:ext cx="3664020" cy="1749642"/>
                <a:chOff x="187779" y="2315898"/>
                <a:chExt cx="6536872" cy="1477328"/>
              </a:xfrm>
            </p:grpSpPr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9B9B95E-2221-73B9-9ED1-99647029D1DA}"/>
                    </a:ext>
                  </a:extLst>
                </p:cNvPr>
                <p:cNvSpPr txBox="1"/>
                <p:nvPr/>
              </p:nvSpPr>
              <p:spPr>
                <a:xfrm>
                  <a:off x="187779" y="2315898"/>
                  <a:ext cx="653687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400" b="1" dirty="0">
                      <a:solidFill>
                        <a:schemeClr val="bg2"/>
                      </a:solidFill>
                      <a:latin typeface="Arial Rounded MT Bold" panose="020F0704030504030204" pitchFamily="34" charset="0"/>
                    </a:rPr>
                    <a:t>Arrival First Search</a:t>
                  </a: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D0644A3-78F1-A7D0-39B3-AF227383C230}"/>
                    </a:ext>
                  </a:extLst>
                </p:cNvPr>
                <p:cNvSpPr txBox="1"/>
                <p:nvPr/>
              </p:nvSpPr>
              <p:spPr>
                <a:xfrm>
                  <a:off x="187779" y="2777563"/>
                  <a:ext cx="6536872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000" dirty="0">
                      <a:solidFill>
                        <a:schemeClr val="bg2">
                          <a:lumMod val="50000"/>
                        </a:schemeClr>
                      </a:solidFill>
                    </a:rPr>
                    <a:t>Input a strict arrival deadline. The engine filters all possible permutations to ensure you reach your destination on time.</a:t>
                  </a:r>
                  <a:endParaRPr lang="en-IN" sz="2000" dirty="0">
                    <a:solidFill>
                      <a:schemeClr val="bg2">
                        <a:lumMod val="50000"/>
                      </a:schemeClr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</p:grp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0F2FF8A3-C4EC-3D72-2954-9FCF0B7741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2874" y="2020255"/>
              <a:ext cx="1846746" cy="1860311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4BBEC53-BA7C-83FD-BEBB-5BB185D7AA84}"/>
              </a:ext>
            </a:extLst>
          </p:cNvPr>
          <p:cNvGrpSpPr/>
          <p:nvPr/>
        </p:nvGrpSpPr>
        <p:grpSpPr>
          <a:xfrm>
            <a:off x="4357498" y="7474820"/>
            <a:ext cx="3664019" cy="5109433"/>
            <a:chOff x="8366356" y="1657127"/>
            <a:chExt cx="3664019" cy="510943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C33F20F-7279-644B-561B-33ECEB943319}"/>
                </a:ext>
              </a:extLst>
            </p:cNvPr>
            <p:cNvGrpSpPr/>
            <p:nvPr/>
          </p:nvGrpSpPr>
          <p:grpSpPr>
            <a:xfrm>
              <a:off x="8366356" y="1657127"/>
              <a:ext cx="3664019" cy="5109433"/>
              <a:chOff x="8474421" y="1711642"/>
              <a:chExt cx="3664019" cy="5109433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2A7ABAC8-35E8-54B7-DBC0-45B0603D3A97}"/>
                  </a:ext>
                </a:extLst>
              </p:cNvPr>
              <p:cNvSpPr/>
              <p:nvPr/>
            </p:nvSpPr>
            <p:spPr>
              <a:xfrm>
                <a:off x="8474421" y="1711642"/>
                <a:ext cx="3664019" cy="5109433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D4832689-FF56-8BA9-BC08-D99E02C1A66E}"/>
                  </a:ext>
                </a:extLst>
              </p:cNvPr>
              <p:cNvGrpSpPr/>
              <p:nvPr/>
            </p:nvGrpSpPr>
            <p:grpSpPr>
              <a:xfrm>
                <a:off x="8711352" y="4165173"/>
                <a:ext cx="3306535" cy="1903617"/>
                <a:chOff x="6294665" y="2903471"/>
                <a:chExt cx="6536872" cy="1169551"/>
              </a:xfrm>
            </p:grpSpPr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BF10B752-DC40-08B6-22A8-06D705D5067D}"/>
                    </a:ext>
                  </a:extLst>
                </p:cNvPr>
                <p:cNvSpPr txBox="1"/>
                <p:nvPr/>
              </p:nvSpPr>
              <p:spPr>
                <a:xfrm>
                  <a:off x="6294665" y="2903471"/>
                  <a:ext cx="653687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400" b="1" dirty="0">
                      <a:solidFill>
                        <a:schemeClr val="bg2"/>
                      </a:solidFill>
                      <a:latin typeface="Arial Rounded MT Bold" panose="020F0704030504030204" pitchFamily="34" charset="0"/>
                    </a:rPr>
                    <a:t>Smart Auto Connect</a:t>
                  </a:r>
                </a:p>
              </p:txBody>
            </p:sp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799D6033-0835-8FC8-DEBA-B2028B7902D0}"/>
                    </a:ext>
                  </a:extLst>
                </p:cNvPr>
                <p:cNvSpPr txBox="1"/>
                <p:nvPr/>
              </p:nvSpPr>
              <p:spPr>
                <a:xfrm>
                  <a:off x="6294665" y="3365136"/>
                  <a:ext cx="6536872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000" dirty="0">
                      <a:solidFill>
                        <a:schemeClr val="bg2">
                          <a:lumMod val="50000"/>
                        </a:schemeClr>
                      </a:solidFill>
                    </a:rPr>
                    <a:t>Seamlessly splices different trains at logical transit hubs to create viable itineraries when direct routes are sold out.</a:t>
                  </a:r>
                  <a:endParaRPr lang="en-IN" sz="2000" dirty="0">
                    <a:solidFill>
                      <a:schemeClr val="bg2">
                        <a:lumMod val="50000"/>
                      </a:schemeClr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</p:grp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DD344A60-4E7E-D113-E192-43CDA1FCA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2376" y="2080029"/>
              <a:ext cx="1891978" cy="1891978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C0691AB-9BEB-EEB3-EB17-9FEEDCB05003}"/>
              </a:ext>
            </a:extLst>
          </p:cNvPr>
          <p:cNvGrpSpPr/>
          <p:nvPr/>
        </p:nvGrpSpPr>
        <p:grpSpPr>
          <a:xfrm>
            <a:off x="4263991" y="1340220"/>
            <a:ext cx="3664019" cy="5109433"/>
            <a:chOff x="4296705" y="1657127"/>
            <a:chExt cx="3664019" cy="5109433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701619A-D35B-0E5F-AA05-321E2BCD530C}"/>
                </a:ext>
              </a:extLst>
            </p:cNvPr>
            <p:cNvGrpSpPr/>
            <p:nvPr/>
          </p:nvGrpSpPr>
          <p:grpSpPr>
            <a:xfrm>
              <a:off x="4296705" y="1657127"/>
              <a:ext cx="3664019" cy="5109433"/>
              <a:chOff x="4404770" y="1711642"/>
              <a:chExt cx="3664019" cy="5109433"/>
            </a:xfrm>
          </p:grpSpPr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CB445288-A0EE-2FD5-1A41-E902F2E051A9}"/>
                  </a:ext>
                </a:extLst>
              </p:cNvPr>
              <p:cNvSpPr/>
              <p:nvPr/>
            </p:nvSpPr>
            <p:spPr>
              <a:xfrm>
                <a:off x="4404770" y="1711642"/>
                <a:ext cx="3664019" cy="5109433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7877128A-5E23-B4B3-4985-D05615EFD0D1}"/>
                  </a:ext>
                </a:extLst>
              </p:cNvPr>
              <p:cNvGrpSpPr/>
              <p:nvPr/>
            </p:nvGrpSpPr>
            <p:grpSpPr>
              <a:xfrm>
                <a:off x="4404770" y="4165173"/>
                <a:ext cx="3664019" cy="2340033"/>
                <a:chOff x="410936" y="4694171"/>
                <a:chExt cx="6536872" cy="1477328"/>
              </a:xfrm>
            </p:grpSpPr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899C538-9E43-FE88-243E-D5922FB6CA46}"/>
                    </a:ext>
                  </a:extLst>
                </p:cNvPr>
                <p:cNvSpPr txBox="1"/>
                <p:nvPr/>
              </p:nvSpPr>
              <p:spPr>
                <a:xfrm>
                  <a:off x="410936" y="4694171"/>
                  <a:ext cx="653687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400" b="1" dirty="0">
                      <a:solidFill>
                        <a:schemeClr val="bg2"/>
                      </a:solidFill>
                      <a:latin typeface="Arial Rounded MT Bold" panose="020F0704030504030204" pitchFamily="34" charset="0"/>
                    </a:rPr>
                    <a:t>Buffer Optimization</a:t>
                  </a: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EDB6D9A-6997-1599-6718-398C9AE4ECB7}"/>
                    </a:ext>
                  </a:extLst>
                </p:cNvPr>
                <p:cNvSpPr txBox="1"/>
                <p:nvPr/>
              </p:nvSpPr>
              <p:spPr>
                <a:xfrm>
                  <a:off x="410936" y="5155836"/>
                  <a:ext cx="6536872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000" dirty="0">
                      <a:solidFill>
                        <a:schemeClr val="bg2">
                          <a:lumMod val="50000"/>
                        </a:schemeClr>
                      </a:solidFill>
                    </a:rPr>
                    <a:t>Automatically enforces safe layover windows (e.g., min 45 mins) to protect against historical delay data of the first leg.</a:t>
                  </a:r>
                  <a:endParaRPr lang="en-IN" sz="2000" dirty="0">
                    <a:solidFill>
                      <a:schemeClr val="bg2">
                        <a:lumMod val="50000"/>
                      </a:schemeClr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</p:grp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E75DD80F-98B9-507B-ADB4-27C0664312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67292" y="2113951"/>
              <a:ext cx="1857416" cy="18574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78751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DBA030-7698-7DEB-7C46-8F650AE9A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69E739-AF35-D915-F03F-BC554F79C5F6}"/>
              </a:ext>
            </a:extLst>
          </p:cNvPr>
          <p:cNvSpPr txBox="1"/>
          <p:nvPr/>
        </p:nvSpPr>
        <p:spPr>
          <a:xfrm>
            <a:off x="187779" y="320070"/>
            <a:ext cx="5505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solidFill>
                  <a:schemeClr val="bg2"/>
                </a:solidFill>
                <a:latin typeface="Arial Black" panose="020B0A04020102020204" pitchFamily="34" charset="0"/>
              </a:rPr>
              <a:t>Core Features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F45B9F3-7182-5E50-E856-CB92F6CF1A8C}"/>
              </a:ext>
            </a:extLst>
          </p:cNvPr>
          <p:cNvGrpSpPr/>
          <p:nvPr/>
        </p:nvGrpSpPr>
        <p:grpSpPr>
          <a:xfrm>
            <a:off x="417801" y="1340220"/>
            <a:ext cx="3664020" cy="5109433"/>
            <a:chOff x="124237" y="1657127"/>
            <a:chExt cx="3664020" cy="5109433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653D42D-46CB-451A-45C2-9E40DCCE6579}"/>
                </a:ext>
              </a:extLst>
            </p:cNvPr>
            <p:cNvGrpSpPr/>
            <p:nvPr/>
          </p:nvGrpSpPr>
          <p:grpSpPr>
            <a:xfrm>
              <a:off x="124237" y="1657127"/>
              <a:ext cx="3664020" cy="5109433"/>
              <a:chOff x="232302" y="1711642"/>
              <a:chExt cx="3664020" cy="5109433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0B6ACFA1-DC90-2C2C-3DB1-82966F7F2BD8}"/>
                  </a:ext>
                </a:extLst>
              </p:cNvPr>
              <p:cNvSpPr/>
              <p:nvPr/>
            </p:nvSpPr>
            <p:spPr>
              <a:xfrm>
                <a:off x="232303" y="1711642"/>
                <a:ext cx="3664019" cy="5109433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5C74876-C36A-3B5F-9446-BD7227A53085}"/>
                  </a:ext>
                </a:extLst>
              </p:cNvPr>
              <p:cNvGrpSpPr/>
              <p:nvPr/>
            </p:nvGrpSpPr>
            <p:grpSpPr>
              <a:xfrm>
                <a:off x="232302" y="4165173"/>
                <a:ext cx="3664020" cy="1749642"/>
                <a:chOff x="187779" y="2315898"/>
                <a:chExt cx="6536872" cy="1477328"/>
              </a:xfrm>
            </p:grpSpPr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2D283DA-BCC2-CF94-2D6F-41D0AC8F9E17}"/>
                    </a:ext>
                  </a:extLst>
                </p:cNvPr>
                <p:cNvSpPr txBox="1"/>
                <p:nvPr/>
              </p:nvSpPr>
              <p:spPr>
                <a:xfrm>
                  <a:off x="187779" y="2315898"/>
                  <a:ext cx="653687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400" b="1" dirty="0">
                      <a:solidFill>
                        <a:schemeClr val="bg2"/>
                      </a:solidFill>
                      <a:latin typeface="Arial Rounded MT Bold" panose="020F0704030504030204" pitchFamily="34" charset="0"/>
                    </a:rPr>
                    <a:t>Arrival First Search</a:t>
                  </a: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CC0DD70-02F7-25EC-FBF3-EF45539FD8C1}"/>
                    </a:ext>
                  </a:extLst>
                </p:cNvPr>
                <p:cNvSpPr txBox="1"/>
                <p:nvPr/>
              </p:nvSpPr>
              <p:spPr>
                <a:xfrm>
                  <a:off x="187779" y="2777563"/>
                  <a:ext cx="6536872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000" dirty="0">
                      <a:solidFill>
                        <a:schemeClr val="bg2">
                          <a:lumMod val="50000"/>
                        </a:schemeClr>
                      </a:solidFill>
                    </a:rPr>
                    <a:t>Input a strict arrival deadline. The engine filters all possible permutations to ensure you reach your destination on time.</a:t>
                  </a:r>
                  <a:endParaRPr lang="en-IN" sz="2000" dirty="0">
                    <a:solidFill>
                      <a:schemeClr val="bg2">
                        <a:lumMod val="50000"/>
                      </a:schemeClr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</p:grp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13D042A3-B803-79CB-1D30-3CF17267AA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2874" y="2020255"/>
              <a:ext cx="1846746" cy="1860311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CAECB2F-D5B7-1BBE-114C-EB40F41E1CAD}"/>
              </a:ext>
            </a:extLst>
          </p:cNvPr>
          <p:cNvGrpSpPr/>
          <p:nvPr/>
        </p:nvGrpSpPr>
        <p:grpSpPr>
          <a:xfrm>
            <a:off x="4263990" y="1340220"/>
            <a:ext cx="3664019" cy="5109433"/>
            <a:chOff x="8366356" y="1657127"/>
            <a:chExt cx="3664019" cy="510943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C9C71C5-D183-256B-6824-C82AD9653C34}"/>
                </a:ext>
              </a:extLst>
            </p:cNvPr>
            <p:cNvGrpSpPr/>
            <p:nvPr/>
          </p:nvGrpSpPr>
          <p:grpSpPr>
            <a:xfrm>
              <a:off x="8366356" y="1657127"/>
              <a:ext cx="3664019" cy="5109433"/>
              <a:chOff x="8474421" y="1711642"/>
              <a:chExt cx="3664019" cy="5109433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A5BFEBCC-A8D7-D24D-10E2-DA421569BC97}"/>
                  </a:ext>
                </a:extLst>
              </p:cNvPr>
              <p:cNvSpPr/>
              <p:nvPr/>
            </p:nvSpPr>
            <p:spPr>
              <a:xfrm>
                <a:off x="8474421" y="1711642"/>
                <a:ext cx="3664019" cy="5109433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6D3D2EE2-4489-CD51-FAC6-8F940888370B}"/>
                  </a:ext>
                </a:extLst>
              </p:cNvPr>
              <p:cNvGrpSpPr/>
              <p:nvPr/>
            </p:nvGrpSpPr>
            <p:grpSpPr>
              <a:xfrm>
                <a:off x="8711352" y="4165173"/>
                <a:ext cx="3306535" cy="1903617"/>
                <a:chOff x="6294665" y="2903471"/>
                <a:chExt cx="6536872" cy="1169551"/>
              </a:xfrm>
            </p:grpSpPr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BF72D2C4-CB73-92E9-80BA-9423C8EEA68C}"/>
                    </a:ext>
                  </a:extLst>
                </p:cNvPr>
                <p:cNvSpPr txBox="1"/>
                <p:nvPr/>
              </p:nvSpPr>
              <p:spPr>
                <a:xfrm>
                  <a:off x="6294665" y="2903471"/>
                  <a:ext cx="653687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400" b="1" dirty="0">
                      <a:solidFill>
                        <a:schemeClr val="bg2"/>
                      </a:solidFill>
                      <a:latin typeface="Arial Rounded MT Bold" panose="020F0704030504030204" pitchFamily="34" charset="0"/>
                    </a:rPr>
                    <a:t>Smart Auto Connect</a:t>
                  </a:r>
                </a:p>
              </p:txBody>
            </p:sp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E5B91599-42FF-4E71-C624-4BCB8A0B41D0}"/>
                    </a:ext>
                  </a:extLst>
                </p:cNvPr>
                <p:cNvSpPr txBox="1"/>
                <p:nvPr/>
              </p:nvSpPr>
              <p:spPr>
                <a:xfrm>
                  <a:off x="6294665" y="3365136"/>
                  <a:ext cx="6536872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000" dirty="0">
                      <a:solidFill>
                        <a:schemeClr val="bg2">
                          <a:lumMod val="50000"/>
                        </a:schemeClr>
                      </a:solidFill>
                    </a:rPr>
                    <a:t>Seamlessly splices different trains at logical transit hubs to create viable itineraries when direct routes are sold out.</a:t>
                  </a:r>
                  <a:endParaRPr lang="en-IN" sz="2000" dirty="0">
                    <a:solidFill>
                      <a:schemeClr val="bg2">
                        <a:lumMod val="50000"/>
                      </a:schemeClr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</p:grp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F135109B-2720-49A2-3A04-3C79935995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2376" y="2080029"/>
              <a:ext cx="1891978" cy="1891978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CB4F04D-0441-1833-0A56-5A9FD5738347}"/>
              </a:ext>
            </a:extLst>
          </p:cNvPr>
          <p:cNvGrpSpPr/>
          <p:nvPr/>
        </p:nvGrpSpPr>
        <p:grpSpPr>
          <a:xfrm>
            <a:off x="8110181" y="1340220"/>
            <a:ext cx="3664019" cy="5109433"/>
            <a:chOff x="4296705" y="1657127"/>
            <a:chExt cx="3664019" cy="5109433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C37CD0E-5830-B28B-B0FC-19E69F0F4E97}"/>
                </a:ext>
              </a:extLst>
            </p:cNvPr>
            <p:cNvGrpSpPr/>
            <p:nvPr/>
          </p:nvGrpSpPr>
          <p:grpSpPr>
            <a:xfrm>
              <a:off x="4296705" y="1657127"/>
              <a:ext cx="3664019" cy="5109433"/>
              <a:chOff x="4404770" y="1711642"/>
              <a:chExt cx="3664019" cy="5109433"/>
            </a:xfrm>
          </p:grpSpPr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00369A56-31F4-80D4-854F-7625E3070EAD}"/>
                  </a:ext>
                </a:extLst>
              </p:cNvPr>
              <p:cNvSpPr/>
              <p:nvPr/>
            </p:nvSpPr>
            <p:spPr>
              <a:xfrm>
                <a:off x="4404770" y="1711642"/>
                <a:ext cx="3664019" cy="5109433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41D375FB-57D6-9159-CA34-4ED901737DE0}"/>
                  </a:ext>
                </a:extLst>
              </p:cNvPr>
              <p:cNvGrpSpPr/>
              <p:nvPr/>
            </p:nvGrpSpPr>
            <p:grpSpPr>
              <a:xfrm>
                <a:off x="4404770" y="4165173"/>
                <a:ext cx="3664019" cy="2340033"/>
                <a:chOff x="410936" y="4694171"/>
                <a:chExt cx="6536872" cy="1477328"/>
              </a:xfrm>
            </p:grpSpPr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53F5327-668E-D09C-A147-CBD88D5D12CB}"/>
                    </a:ext>
                  </a:extLst>
                </p:cNvPr>
                <p:cNvSpPr txBox="1"/>
                <p:nvPr/>
              </p:nvSpPr>
              <p:spPr>
                <a:xfrm>
                  <a:off x="410936" y="4694171"/>
                  <a:ext cx="653687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400" b="1" dirty="0">
                      <a:solidFill>
                        <a:schemeClr val="bg2"/>
                      </a:solidFill>
                      <a:latin typeface="Arial Rounded MT Bold" panose="020F0704030504030204" pitchFamily="34" charset="0"/>
                    </a:rPr>
                    <a:t>Buffer Optimization</a:t>
                  </a: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2695357-392A-52C9-C6C5-D4B5BB54255E}"/>
                    </a:ext>
                  </a:extLst>
                </p:cNvPr>
                <p:cNvSpPr txBox="1"/>
                <p:nvPr/>
              </p:nvSpPr>
              <p:spPr>
                <a:xfrm>
                  <a:off x="410936" y="5155836"/>
                  <a:ext cx="6536872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000" dirty="0">
                      <a:solidFill>
                        <a:schemeClr val="bg2">
                          <a:lumMod val="50000"/>
                        </a:schemeClr>
                      </a:solidFill>
                    </a:rPr>
                    <a:t>Automatically enforces safe layover windows (e.g., min 45 mins) to protect against historical delay data of the first leg.</a:t>
                  </a:r>
                  <a:endParaRPr lang="en-IN" sz="2000" dirty="0">
                    <a:solidFill>
                      <a:schemeClr val="bg2">
                        <a:lumMod val="50000"/>
                      </a:schemeClr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</p:grp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4F29ED84-7EF3-655B-BA32-849BD9B08A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67292" y="2113951"/>
              <a:ext cx="1857416" cy="18574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0384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38B0BF-8727-D6BC-D781-0B9841196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28688B-D482-5B41-5584-53752730BAF2}"/>
              </a:ext>
            </a:extLst>
          </p:cNvPr>
          <p:cNvSpPr txBox="1"/>
          <p:nvPr/>
        </p:nvSpPr>
        <p:spPr>
          <a:xfrm>
            <a:off x="811697" y="2644170"/>
            <a:ext cx="105686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>
                <a:solidFill>
                  <a:schemeClr val="bg2"/>
                </a:solidFill>
                <a:latin typeface="Arial Black" panose="020B0A04020102020204" pitchFamily="34" charset="0"/>
              </a:rPr>
              <a:t>How It Works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E5514D2-2FD7-92E8-EE69-8D48FE0C6A9E}"/>
              </a:ext>
            </a:extLst>
          </p:cNvPr>
          <p:cNvGrpSpPr/>
          <p:nvPr/>
        </p:nvGrpSpPr>
        <p:grpSpPr>
          <a:xfrm>
            <a:off x="12410902" y="1446791"/>
            <a:ext cx="20243833" cy="3964418"/>
            <a:chOff x="0" y="1692988"/>
            <a:chExt cx="20243833" cy="3964418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95413A1F-64BC-DA39-759D-2DCF4A0DC017}"/>
                </a:ext>
              </a:extLst>
            </p:cNvPr>
            <p:cNvGrpSpPr/>
            <p:nvPr/>
          </p:nvGrpSpPr>
          <p:grpSpPr>
            <a:xfrm>
              <a:off x="0" y="1692988"/>
              <a:ext cx="20243833" cy="3964418"/>
              <a:chOff x="0" y="1692988"/>
              <a:chExt cx="20243833" cy="3964418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6286E1-0894-9316-6EFA-74C7EEEF42DC}"/>
                  </a:ext>
                </a:extLst>
              </p:cNvPr>
              <p:cNvSpPr txBox="1"/>
              <p:nvPr/>
            </p:nvSpPr>
            <p:spPr>
              <a:xfrm>
                <a:off x="44400" y="4366748"/>
                <a:ext cx="272515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dirty="0">
                    <a:solidFill>
                      <a:schemeClr val="bg2">
                        <a:lumMod val="50000"/>
                      </a:schemeClr>
                    </a:solidFill>
                  </a:rPr>
                  <a:t>User defines Source, Dest, Date, and critical Arrival Time.</a:t>
                </a:r>
                <a:endParaRPr lang="en-IN" dirty="0">
                  <a:solidFill>
                    <a:schemeClr val="bg2">
                      <a:lumMod val="50000"/>
                    </a:schemeClr>
                  </a:solidFill>
                  <a:latin typeface="Arial Rounded MT Bold" panose="020F0704030504030204" pitchFamily="34" charset="0"/>
                </a:endParaRPr>
              </a:p>
            </p:txBody>
          </p: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92632B65-69B7-54D1-D1A0-2CFCAD286AE2}"/>
                  </a:ext>
                </a:extLst>
              </p:cNvPr>
              <p:cNvGrpSpPr/>
              <p:nvPr/>
            </p:nvGrpSpPr>
            <p:grpSpPr>
              <a:xfrm>
                <a:off x="0" y="1692988"/>
                <a:ext cx="20243833" cy="3964418"/>
                <a:chOff x="0" y="1692988"/>
                <a:chExt cx="20243833" cy="3964418"/>
              </a:xfrm>
            </p:grpSpPr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1B2A3CDE-F6BA-4E39-A51E-B7B8B49A95D0}"/>
                    </a:ext>
                  </a:extLst>
                </p:cNvPr>
                <p:cNvSpPr txBox="1"/>
                <p:nvPr/>
              </p:nvSpPr>
              <p:spPr>
                <a:xfrm>
                  <a:off x="299912" y="3890083"/>
                  <a:ext cx="221413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000" dirty="0">
                      <a:solidFill>
                        <a:schemeClr val="bg2"/>
                      </a:solidFill>
                      <a:latin typeface="Arial Rounded MT Bold" panose="020F0704030504030204" pitchFamily="34" charset="0"/>
                    </a:rPr>
                    <a:t>Parameter Input</a:t>
                  </a:r>
                </a:p>
              </p:txBody>
            </p: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9F3FE03A-54CC-D4EA-F528-394BA994D658}"/>
                    </a:ext>
                  </a:extLst>
                </p:cNvPr>
                <p:cNvGrpSpPr/>
                <p:nvPr/>
              </p:nvGrpSpPr>
              <p:grpSpPr>
                <a:xfrm>
                  <a:off x="0" y="3219450"/>
                  <a:ext cx="19224171" cy="419100"/>
                  <a:chOff x="65314" y="4764314"/>
                  <a:chExt cx="19224171" cy="419100"/>
                </a:xfrm>
              </p:grpSpPr>
              <p:cxnSp>
                <p:nvCxnSpPr>
                  <p:cNvPr id="4" name="Straight Connector 3">
                    <a:extLst>
                      <a:ext uri="{FF2B5EF4-FFF2-40B4-BE49-F238E27FC236}">
                        <a16:creationId xmlns:a16="http://schemas.microsoft.com/office/drawing/2014/main" id="{AC3ACC66-7E20-B740-AD88-53D562C74F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5314" y="4973864"/>
                    <a:ext cx="19224171" cy="0"/>
                  </a:xfrm>
                  <a:prstGeom prst="line">
                    <a:avLst/>
                  </a:prstGeom>
                  <a:ln/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9" name="Group 8">
                    <a:extLst>
                      <a:ext uri="{FF2B5EF4-FFF2-40B4-BE49-F238E27FC236}">
                        <a16:creationId xmlns:a16="http://schemas.microsoft.com/office/drawing/2014/main" id="{517D7FA9-857F-737D-C2B7-2A18E7971F1A}"/>
                      </a:ext>
                    </a:extLst>
                  </p:cNvPr>
                  <p:cNvGrpSpPr/>
                  <p:nvPr/>
                </p:nvGrpSpPr>
                <p:grpSpPr>
                  <a:xfrm>
                    <a:off x="1262743" y="4764314"/>
                    <a:ext cx="419100" cy="419100"/>
                    <a:chOff x="1197429" y="3429000"/>
                    <a:chExt cx="419100" cy="419100"/>
                  </a:xfrm>
                </p:grpSpPr>
                <p:sp>
                  <p:nvSpPr>
                    <p:cNvPr id="5" name="Oval 4">
                      <a:extLst>
                        <a:ext uri="{FF2B5EF4-FFF2-40B4-BE49-F238E27FC236}">
                          <a16:creationId xmlns:a16="http://schemas.microsoft.com/office/drawing/2014/main" id="{C4BDF488-C9C0-6C7A-8C07-EF61D9FD11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97429" y="3429000"/>
                      <a:ext cx="419100" cy="419100"/>
                    </a:xfrm>
                    <a:prstGeom prst="ellipse">
                      <a:avLst/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  <p:sp>
                  <p:nvSpPr>
                    <p:cNvPr id="7" name="Oval 6">
                      <a:extLst>
                        <a:ext uri="{FF2B5EF4-FFF2-40B4-BE49-F238E27FC236}">
                          <a16:creationId xmlns:a16="http://schemas.microsoft.com/office/drawing/2014/main" id="{450701FE-5872-8AEA-10C2-FCF7263995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73629" y="3505200"/>
                      <a:ext cx="266700" cy="266700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</p:grpSp>
              <p:grpSp>
                <p:nvGrpSpPr>
                  <p:cNvPr id="10" name="Group 9">
                    <a:extLst>
                      <a:ext uri="{FF2B5EF4-FFF2-40B4-BE49-F238E27FC236}">
                        <a16:creationId xmlns:a16="http://schemas.microsoft.com/office/drawing/2014/main" id="{797843F9-AF13-08E5-3B47-1208101A7A95}"/>
                      </a:ext>
                    </a:extLst>
                  </p:cNvPr>
                  <p:cNvGrpSpPr/>
                  <p:nvPr/>
                </p:nvGrpSpPr>
                <p:grpSpPr>
                  <a:xfrm>
                    <a:off x="5584371" y="4764314"/>
                    <a:ext cx="419100" cy="419100"/>
                    <a:chOff x="1197429" y="3429000"/>
                    <a:chExt cx="419100" cy="419100"/>
                  </a:xfrm>
                </p:grpSpPr>
                <p:sp>
                  <p:nvSpPr>
                    <p:cNvPr id="11" name="Oval 10">
                      <a:extLst>
                        <a:ext uri="{FF2B5EF4-FFF2-40B4-BE49-F238E27FC236}">
                          <a16:creationId xmlns:a16="http://schemas.microsoft.com/office/drawing/2014/main" id="{9781DF0C-D0B8-86DA-6C73-8C804AC517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97429" y="3429000"/>
                      <a:ext cx="419100" cy="419100"/>
                    </a:xfrm>
                    <a:prstGeom prst="ellipse">
                      <a:avLst/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  <p:sp>
                  <p:nvSpPr>
                    <p:cNvPr id="12" name="Oval 11">
                      <a:extLst>
                        <a:ext uri="{FF2B5EF4-FFF2-40B4-BE49-F238E27FC236}">
                          <a16:creationId xmlns:a16="http://schemas.microsoft.com/office/drawing/2014/main" id="{C049212E-43B1-DFEB-B69F-5902C2D081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73629" y="3505200"/>
                      <a:ext cx="266700" cy="266700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</p:grpSp>
              <p:grpSp>
                <p:nvGrpSpPr>
                  <p:cNvPr id="13" name="Group 12">
                    <a:extLst>
                      <a:ext uri="{FF2B5EF4-FFF2-40B4-BE49-F238E27FC236}">
                        <a16:creationId xmlns:a16="http://schemas.microsoft.com/office/drawing/2014/main" id="{ABA78D2D-D1E0-4132-C6AA-5F264602CAB6}"/>
                      </a:ext>
                    </a:extLst>
                  </p:cNvPr>
                  <p:cNvGrpSpPr/>
                  <p:nvPr/>
                </p:nvGrpSpPr>
                <p:grpSpPr>
                  <a:xfrm>
                    <a:off x="9905999" y="4764314"/>
                    <a:ext cx="9062356" cy="419100"/>
                    <a:chOff x="1197429" y="3429000"/>
                    <a:chExt cx="9062356" cy="419100"/>
                  </a:xfrm>
                </p:grpSpPr>
                <p:sp>
                  <p:nvSpPr>
                    <p:cNvPr id="14" name="Oval 13">
                      <a:extLst>
                        <a:ext uri="{FF2B5EF4-FFF2-40B4-BE49-F238E27FC236}">
                          <a16:creationId xmlns:a16="http://schemas.microsoft.com/office/drawing/2014/main" id="{87D14E44-B1A4-71B9-523A-1294EF7F15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97429" y="3429000"/>
                      <a:ext cx="419100" cy="419100"/>
                    </a:xfrm>
                    <a:prstGeom prst="ellipse">
                      <a:avLst/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  <p:sp>
                  <p:nvSpPr>
                    <p:cNvPr id="15" name="Oval 14">
                      <a:extLst>
                        <a:ext uri="{FF2B5EF4-FFF2-40B4-BE49-F238E27FC236}">
                          <a16:creationId xmlns:a16="http://schemas.microsoft.com/office/drawing/2014/main" id="{87DBC4CA-9992-2DDC-C158-A63E01BA05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73629" y="3505200"/>
                      <a:ext cx="266700" cy="266700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  <p:sp>
                  <p:nvSpPr>
                    <p:cNvPr id="20" name="Oval 19">
                      <a:extLst>
                        <a:ext uri="{FF2B5EF4-FFF2-40B4-BE49-F238E27FC236}">
                          <a16:creationId xmlns:a16="http://schemas.microsoft.com/office/drawing/2014/main" id="{D0AA9C7B-E331-675C-0A93-8DB44FC459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19057" y="3429000"/>
                      <a:ext cx="419100" cy="419100"/>
                    </a:xfrm>
                    <a:prstGeom prst="ellipse">
                      <a:avLst/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  <p:sp>
                  <p:nvSpPr>
                    <p:cNvPr id="21" name="Oval 20">
                      <a:extLst>
                        <a:ext uri="{FF2B5EF4-FFF2-40B4-BE49-F238E27FC236}">
                          <a16:creationId xmlns:a16="http://schemas.microsoft.com/office/drawing/2014/main" id="{DE4783A1-59B1-5816-9DA3-8C327F0D00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95257" y="3505200"/>
                      <a:ext cx="266700" cy="266700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  <p:sp>
                  <p:nvSpPr>
                    <p:cNvPr id="22" name="Oval 21">
                      <a:extLst>
                        <a:ext uri="{FF2B5EF4-FFF2-40B4-BE49-F238E27FC236}">
                          <a16:creationId xmlns:a16="http://schemas.microsoft.com/office/drawing/2014/main" id="{F6D8D4C3-55C8-4FE2-B13D-92A37EFB0C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40685" y="3429000"/>
                      <a:ext cx="419100" cy="419100"/>
                    </a:xfrm>
                    <a:prstGeom prst="ellipse">
                      <a:avLst/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  <p:sp>
                  <p:nvSpPr>
                    <p:cNvPr id="23" name="Oval 22">
                      <a:extLst>
                        <a:ext uri="{FF2B5EF4-FFF2-40B4-BE49-F238E27FC236}">
                          <a16:creationId xmlns:a16="http://schemas.microsoft.com/office/drawing/2014/main" id="{15A14922-FEEF-7D87-43D0-514C30DE43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16885" y="3505200"/>
                      <a:ext cx="266700" cy="266700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</p:grpSp>
            </p:grp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042CD7F-3016-7E32-2117-45BB2A3E0D87}"/>
                    </a:ext>
                  </a:extLst>
                </p:cNvPr>
                <p:cNvSpPr txBox="1"/>
                <p:nvPr/>
              </p:nvSpPr>
              <p:spPr>
                <a:xfrm>
                  <a:off x="4610250" y="1692988"/>
                  <a:ext cx="223671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000" dirty="0">
                      <a:solidFill>
                        <a:schemeClr val="bg2"/>
                      </a:solidFill>
                      <a:latin typeface="Arial Rounded MT Bold" panose="020F0704030504030204" pitchFamily="34" charset="0"/>
                    </a:rPr>
                    <a:t>Graph Traversal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A741A38-16E1-1715-F01B-48D4FA79E54E}"/>
                    </a:ext>
                  </a:extLst>
                </p:cNvPr>
                <p:cNvSpPr txBox="1"/>
                <p:nvPr/>
              </p:nvSpPr>
              <p:spPr>
                <a:xfrm>
                  <a:off x="4460040" y="2044216"/>
                  <a:ext cx="2537129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dirty="0">
                      <a:solidFill>
                        <a:schemeClr val="bg2">
                          <a:lumMod val="50000"/>
                        </a:schemeClr>
                      </a:solidFill>
                    </a:rPr>
                    <a:t>Engine searches network for direct &amp; 1-layover paths.</a:t>
                  </a:r>
                  <a:endParaRPr lang="en-IN" dirty="0">
                    <a:solidFill>
                      <a:schemeClr val="bg2">
                        <a:lumMod val="50000"/>
                      </a:schemeClr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940753F-5141-AA27-D500-3CFEE3058FFD}"/>
                    </a:ext>
                  </a:extLst>
                </p:cNvPr>
                <p:cNvSpPr txBox="1"/>
                <p:nvPr/>
              </p:nvSpPr>
              <p:spPr>
                <a:xfrm>
                  <a:off x="8931875" y="3813883"/>
                  <a:ext cx="223671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000" dirty="0">
                      <a:solidFill>
                        <a:schemeClr val="bg2"/>
                      </a:solidFill>
                      <a:latin typeface="Arial Rounded MT Bold" panose="020F0704030504030204" pitchFamily="34" charset="0"/>
                    </a:rPr>
                    <a:t>Logic Filtering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C24D56E-D864-BF70-DFAC-8FDE5D140686}"/>
                    </a:ext>
                  </a:extLst>
                </p:cNvPr>
                <p:cNvSpPr txBox="1"/>
                <p:nvPr/>
              </p:nvSpPr>
              <p:spPr>
                <a:xfrm>
                  <a:off x="8781667" y="4290193"/>
                  <a:ext cx="2537129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dirty="0">
                      <a:solidFill>
                        <a:schemeClr val="bg2">
                          <a:lumMod val="50000"/>
                        </a:schemeClr>
                      </a:solidFill>
                    </a:rPr>
                    <a:t>Routes are pruned based on buffers &amp; seat availability.</a:t>
                  </a:r>
                  <a:endParaRPr lang="en-IN" dirty="0">
                    <a:solidFill>
                      <a:schemeClr val="bg2">
                        <a:lumMod val="50000"/>
                      </a:schemeClr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E4432C8-4AF7-7004-36BE-1AB75870CD24}"/>
                    </a:ext>
                  </a:extLst>
                </p:cNvPr>
                <p:cNvSpPr txBox="1"/>
                <p:nvPr/>
              </p:nvSpPr>
              <p:spPr>
                <a:xfrm>
                  <a:off x="13274472" y="1729528"/>
                  <a:ext cx="223671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000" dirty="0">
                      <a:solidFill>
                        <a:schemeClr val="bg2"/>
                      </a:solidFill>
                      <a:latin typeface="Arial Rounded MT Bold" panose="020F0704030504030204" pitchFamily="34" charset="0"/>
                    </a:rPr>
                    <a:t>Result Ranking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19BBA1F-1BAE-828C-426B-A286F7FD8712}"/>
                    </a:ext>
                  </a:extLst>
                </p:cNvPr>
                <p:cNvSpPr txBox="1"/>
                <p:nvPr/>
              </p:nvSpPr>
              <p:spPr>
                <a:xfrm>
                  <a:off x="13124262" y="2080756"/>
                  <a:ext cx="2537129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dirty="0">
                      <a:solidFill>
                        <a:schemeClr val="bg2">
                          <a:lumMod val="50000"/>
                        </a:schemeClr>
                      </a:solidFill>
                    </a:rPr>
                    <a:t>Final itineraries ranked by travel time and low friction.</a:t>
                  </a:r>
                  <a:endParaRPr lang="en-IN" dirty="0">
                    <a:solidFill>
                      <a:schemeClr val="bg2">
                        <a:lumMod val="50000"/>
                      </a:schemeClr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74AE36C-4285-C5A8-5904-A70E4A23CF4B}"/>
                    </a:ext>
                  </a:extLst>
                </p:cNvPr>
                <p:cNvSpPr txBox="1"/>
                <p:nvPr/>
              </p:nvSpPr>
              <p:spPr>
                <a:xfrm>
                  <a:off x="17143149" y="3779968"/>
                  <a:ext cx="310068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000" dirty="0">
                      <a:solidFill>
                        <a:schemeClr val="bg2"/>
                      </a:solidFill>
                      <a:latin typeface="Arial Rounded MT Bold" panose="020F0704030504030204" pitchFamily="34" charset="0"/>
                    </a:rPr>
                    <a:t>Visual Timeline Render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F49D0150-0183-1752-989B-85A14C97554C}"/>
                    </a:ext>
                  </a:extLst>
                </p:cNvPr>
                <p:cNvSpPr txBox="1"/>
                <p:nvPr/>
              </p:nvSpPr>
              <p:spPr>
                <a:xfrm>
                  <a:off x="17424926" y="4180078"/>
                  <a:ext cx="2537129" cy="14773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dirty="0">
                      <a:solidFill>
                        <a:schemeClr val="bg2">
                          <a:lumMod val="50000"/>
                        </a:schemeClr>
                      </a:solidFill>
                    </a:rPr>
                    <a:t>The system maps the highest-ranked itinerary, highlighting transit hubs and exact layover durations.</a:t>
                  </a:r>
                  <a:endParaRPr lang="en-IN" dirty="0">
                    <a:solidFill>
                      <a:schemeClr val="bg2">
                        <a:lumMod val="50000"/>
                      </a:schemeClr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</p:grp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1ECC9E0-2822-080C-07A3-8F8619A8BD6B}"/>
                </a:ext>
              </a:extLst>
            </p:cNvPr>
            <p:cNvSpPr/>
            <p:nvPr/>
          </p:nvSpPr>
          <p:spPr>
            <a:xfrm>
              <a:off x="19131371" y="3336200"/>
              <a:ext cx="185599" cy="18559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1240946432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B95080-5FDA-EB10-DB6C-8C3EF3907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92326C-C86A-9239-D7CF-029ADD033C43}"/>
              </a:ext>
            </a:extLst>
          </p:cNvPr>
          <p:cNvSpPr txBox="1"/>
          <p:nvPr/>
        </p:nvSpPr>
        <p:spPr>
          <a:xfrm>
            <a:off x="187779" y="320070"/>
            <a:ext cx="53312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solidFill>
                  <a:schemeClr val="bg2"/>
                </a:solidFill>
                <a:latin typeface="Arial Black" panose="020B0A04020102020204" pitchFamily="34" charset="0"/>
              </a:rPr>
              <a:t>How It Works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DA016DB-FCE7-D7BA-68AA-0CCB9ADD9A36}"/>
              </a:ext>
            </a:extLst>
          </p:cNvPr>
          <p:cNvGrpSpPr/>
          <p:nvPr/>
        </p:nvGrpSpPr>
        <p:grpSpPr>
          <a:xfrm>
            <a:off x="0" y="1446791"/>
            <a:ext cx="20243833" cy="3964418"/>
            <a:chOff x="0" y="1692988"/>
            <a:chExt cx="20243833" cy="3964418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5332E98-5900-8CFD-3B4C-A971B369FE43}"/>
                </a:ext>
              </a:extLst>
            </p:cNvPr>
            <p:cNvGrpSpPr/>
            <p:nvPr/>
          </p:nvGrpSpPr>
          <p:grpSpPr>
            <a:xfrm>
              <a:off x="0" y="1692988"/>
              <a:ext cx="20243833" cy="3964418"/>
              <a:chOff x="0" y="1692988"/>
              <a:chExt cx="20243833" cy="3964418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87DD72B-E715-A742-DD02-518F86749BB4}"/>
                  </a:ext>
                </a:extLst>
              </p:cNvPr>
              <p:cNvSpPr txBox="1"/>
              <p:nvPr/>
            </p:nvSpPr>
            <p:spPr>
              <a:xfrm>
                <a:off x="44400" y="4366748"/>
                <a:ext cx="272515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dirty="0">
                    <a:solidFill>
                      <a:schemeClr val="bg2">
                        <a:lumMod val="50000"/>
                      </a:schemeClr>
                    </a:solidFill>
                  </a:rPr>
                  <a:t>User defines Source, Dest, Date, and critical Arrival Time.</a:t>
                </a:r>
                <a:endParaRPr lang="en-IN" dirty="0">
                  <a:solidFill>
                    <a:schemeClr val="bg2">
                      <a:lumMod val="50000"/>
                    </a:schemeClr>
                  </a:solidFill>
                  <a:latin typeface="Arial Rounded MT Bold" panose="020F0704030504030204" pitchFamily="34" charset="0"/>
                </a:endParaRPr>
              </a:p>
            </p:txBody>
          </p: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21D0F710-8DF5-2E1D-7BC7-99795BC562EA}"/>
                  </a:ext>
                </a:extLst>
              </p:cNvPr>
              <p:cNvGrpSpPr/>
              <p:nvPr/>
            </p:nvGrpSpPr>
            <p:grpSpPr>
              <a:xfrm>
                <a:off x="0" y="1692988"/>
                <a:ext cx="20243833" cy="3964418"/>
                <a:chOff x="0" y="1692988"/>
                <a:chExt cx="20243833" cy="3964418"/>
              </a:xfrm>
            </p:grpSpPr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EB0D933-86D5-D769-1C49-23FA6C5649E1}"/>
                    </a:ext>
                  </a:extLst>
                </p:cNvPr>
                <p:cNvSpPr txBox="1"/>
                <p:nvPr/>
              </p:nvSpPr>
              <p:spPr>
                <a:xfrm>
                  <a:off x="299912" y="3890083"/>
                  <a:ext cx="221413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000" dirty="0">
                      <a:solidFill>
                        <a:schemeClr val="bg2"/>
                      </a:solidFill>
                      <a:latin typeface="Arial Rounded MT Bold" panose="020F0704030504030204" pitchFamily="34" charset="0"/>
                    </a:rPr>
                    <a:t>Parameter Input</a:t>
                  </a:r>
                </a:p>
              </p:txBody>
            </p: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934A4503-F145-9038-4260-55E0387766DD}"/>
                    </a:ext>
                  </a:extLst>
                </p:cNvPr>
                <p:cNvGrpSpPr/>
                <p:nvPr/>
              </p:nvGrpSpPr>
              <p:grpSpPr>
                <a:xfrm>
                  <a:off x="0" y="3219450"/>
                  <a:ext cx="19224171" cy="419100"/>
                  <a:chOff x="65314" y="4764314"/>
                  <a:chExt cx="19224171" cy="419100"/>
                </a:xfrm>
              </p:grpSpPr>
              <p:cxnSp>
                <p:nvCxnSpPr>
                  <p:cNvPr id="4" name="Straight Connector 3">
                    <a:extLst>
                      <a:ext uri="{FF2B5EF4-FFF2-40B4-BE49-F238E27FC236}">
                        <a16:creationId xmlns:a16="http://schemas.microsoft.com/office/drawing/2014/main" id="{1C20FB46-302F-5485-D864-DFDF0F683A0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5314" y="4973864"/>
                    <a:ext cx="19224171" cy="0"/>
                  </a:xfrm>
                  <a:prstGeom prst="line">
                    <a:avLst/>
                  </a:prstGeom>
                  <a:ln/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9" name="Group 8">
                    <a:extLst>
                      <a:ext uri="{FF2B5EF4-FFF2-40B4-BE49-F238E27FC236}">
                        <a16:creationId xmlns:a16="http://schemas.microsoft.com/office/drawing/2014/main" id="{2AC3A4B2-D85B-C6B7-1EFF-3896C37ED893}"/>
                      </a:ext>
                    </a:extLst>
                  </p:cNvPr>
                  <p:cNvGrpSpPr/>
                  <p:nvPr/>
                </p:nvGrpSpPr>
                <p:grpSpPr>
                  <a:xfrm>
                    <a:off x="1262743" y="4764314"/>
                    <a:ext cx="419100" cy="419100"/>
                    <a:chOff x="1197429" y="3429000"/>
                    <a:chExt cx="419100" cy="419100"/>
                  </a:xfrm>
                </p:grpSpPr>
                <p:sp>
                  <p:nvSpPr>
                    <p:cNvPr id="5" name="Oval 4">
                      <a:extLst>
                        <a:ext uri="{FF2B5EF4-FFF2-40B4-BE49-F238E27FC236}">
                          <a16:creationId xmlns:a16="http://schemas.microsoft.com/office/drawing/2014/main" id="{D1432CEE-6083-6B39-C186-16FEA94FC0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97429" y="3429000"/>
                      <a:ext cx="419100" cy="419100"/>
                    </a:xfrm>
                    <a:prstGeom prst="ellipse">
                      <a:avLst/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  <p:sp>
                  <p:nvSpPr>
                    <p:cNvPr id="7" name="Oval 6">
                      <a:extLst>
                        <a:ext uri="{FF2B5EF4-FFF2-40B4-BE49-F238E27FC236}">
                          <a16:creationId xmlns:a16="http://schemas.microsoft.com/office/drawing/2014/main" id="{143F36A3-79EB-6866-1F64-0120C738A8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73629" y="3505200"/>
                      <a:ext cx="266700" cy="266700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</p:grpSp>
              <p:grpSp>
                <p:nvGrpSpPr>
                  <p:cNvPr id="10" name="Group 9">
                    <a:extLst>
                      <a:ext uri="{FF2B5EF4-FFF2-40B4-BE49-F238E27FC236}">
                        <a16:creationId xmlns:a16="http://schemas.microsoft.com/office/drawing/2014/main" id="{F0FF6F8C-7843-451D-5AD3-E92723AC264E}"/>
                      </a:ext>
                    </a:extLst>
                  </p:cNvPr>
                  <p:cNvGrpSpPr/>
                  <p:nvPr/>
                </p:nvGrpSpPr>
                <p:grpSpPr>
                  <a:xfrm>
                    <a:off x="5584371" y="4764314"/>
                    <a:ext cx="419100" cy="419100"/>
                    <a:chOff x="1197429" y="3429000"/>
                    <a:chExt cx="419100" cy="419100"/>
                  </a:xfrm>
                </p:grpSpPr>
                <p:sp>
                  <p:nvSpPr>
                    <p:cNvPr id="11" name="Oval 10">
                      <a:extLst>
                        <a:ext uri="{FF2B5EF4-FFF2-40B4-BE49-F238E27FC236}">
                          <a16:creationId xmlns:a16="http://schemas.microsoft.com/office/drawing/2014/main" id="{0B94201D-E804-F9A4-2D26-2DDC4B1B92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97429" y="3429000"/>
                      <a:ext cx="419100" cy="419100"/>
                    </a:xfrm>
                    <a:prstGeom prst="ellipse">
                      <a:avLst/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  <p:sp>
                  <p:nvSpPr>
                    <p:cNvPr id="12" name="Oval 11">
                      <a:extLst>
                        <a:ext uri="{FF2B5EF4-FFF2-40B4-BE49-F238E27FC236}">
                          <a16:creationId xmlns:a16="http://schemas.microsoft.com/office/drawing/2014/main" id="{6FDF15B8-EE52-7049-B5FC-C02A98CE59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73629" y="3505200"/>
                      <a:ext cx="266700" cy="266700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</p:grpSp>
              <p:grpSp>
                <p:nvGrpSpPr>
                  <p:cNvPr id="13" name="Group 12">
                    <a:extLst>
                      <a:ext uri="{FF2B5EF4-FFF2-40B4-BE49-F238E27FC236}">
                        <a16:creationId xmlns:a16="http://schemas.microsoft.com/office/drawing/2014/main" id="{88BD5A5F-2CCB-7D88-CE1E-8A06D18EA120}"/>
                      </a:ext>
                    </a:extLst>
                  </p:cNvPr>
                  <p:cNvGrpSpPr/>
                  <p:nvPr/>
                </p:nvGrpSpPr>
                <p:grpSpPr>
                  <a:xfrm>
                    <a:off x="9905999" y="4764314"/>
                    <a:ext cx="9062356" cy="419100"/>
                    <a:chOff x="1197429" y="3429000"/>
                    <a:chExt cx="9062356" cy="419100"/>
                  </a:xfrm>
                </p:grpSpPr>
                <p:sp>
                  <p:nvSpPr>
                    <p:cNvPr id="14" name="Oval 13">
                      <a:extLst>
                        <a:ext uri="{FF2B5EF4-FFF2-40B4-BE49-F238E27FC236}">
                          <a16:creationId xmlns:a16="http://schemas.microsoft.com/office/drawing/2014/main" id="{9E90A0AD-8669-A855-98EC-ACBD71016A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97429" y="3429000"/>
                      <a:ext cx="419100" cy="419100"/>
                    </a:xfrm>
                    <a:prstGeom prst="ellipse">
                      <a:avLst/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  <p:sp>
                  <p:nvSpPr>
                    <p:cNvPr id="15" name="Oval 14">
                      <a:extLst>
                        <a:ext uri="{FF2B5EF4-FFF2-40B4-BE49-F238E27FC236}">
                          <a16:creationId xmlns:a16="http://schemas.microsoft.com/office/drawing/2014/main" id="{9D2ED12F-8A51-225D-ABF6-45F2E5007F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73629" y="3505200"/>
                      <a:ext cx="266700" cy="266700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  <p:sp>
                  <p:nvSpPr>
                    <p:cNvPr id="20" name="Oval 19">
                      <a:extLst>
                        <a:ext uri="{FF2B5EF4-FFF2-40B4-BE49-F238E27FC236}">
                          <a16:creationId xmlns:a16="http://schemas.microsoft.com/office/drawing/2014/main" id="{FDEFDBE6-C9C4-7738-4451-AD456F19BE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19057" y="3429000"/>
                      <a:ext cx="419100" cy="419100"/>
                    </a:xfrm>
                    <a:prstGeom prst="ellipse">
                      <a:avLst/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  <p:sp>
                  <p:nvSpPr>
                    <p:cNvPr id="21" name="Oval 20">
                      <a:extLst>
                        <a:ext uri="{FF2B5EF4-FFF2-40B4-BE49-F238E27FC236}">
                          <a16:creationId xmlns:a16="http://schemas.microsoft.com/office/drawing/2014/main" id="{9A6C7040-1DB2-B250-6E87-D1CB521023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95257" y="3505200"/>
                      <a:ext cx="266700" cy="266700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  <p:sp>
                  <p:nvSpPr>
                    <p:cNvPr id="22" name="Oval 21">
                      <a:extLst>
                        <a:ext uri="{FF2B5EF4-FFF2-40B4-BE49-F238E27FC236}">
                          <a16:creationId xmlns:a16="http://schemas.microsoft.com/office/drawing/2014/main" id="{7AF54806-2799-6F36-EA25-29695E7CC2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40685" y="3429000"/>
                      <a:ext cx="419100" cy="419100"/>
                    </a:xfrm>
                    <a:prstGeom prst="ellipse">
                      <a:avLst/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  <p:sp>
                  <p:nvSpPr>
                    <p:cNvPr id="23" name="Oval 22">
                      <a:extLst>
                        <a:ext uri="{FF2B5EF4-FFF2-40B4-BE49-F238E27FC236}">
                          <a16:creationId xmlns:a16="http://schemas.microsoft.com/office/drawing/2014/main" id="{F96FBAD4-795C-5EBA-8196-879884562A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16885" y="3505200"/>
                      <a:ext cx="266700" cy="266700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</p:grpSp>
            </p:grp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0C02A08-930D-0152-4CED-FC0E1B24B1CB}"/>
                    </a:ext>
                  </a:extLst>
                </p:cNvPr>
                <p:cNvSpPr txBox="1"/>
                <p:nvPr/>
              </p:nvSpPr>
              <p:spPr>
                <a:xfrm>
                  <a:off x="4610250" y="1692988"/>
                  <a:ext cx="223671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000" dirty="0">
                      <a:solidFill>
                        <a:schemeClr val="bg2"/>
                      </a:solidFill>
                      <a:latin typeface="Arial Rounded MT Bold" panose="020F0704030504030204" pitchFamily="34" charset="0"/>
                    </a:rPr>
                    <a:t>Graph Traversal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21EEFC1-A1A0-C2F8-C160-14EC075C6A03}"/>
                    </a:ext>
                  </a:extLst>
                </p:cNvPr>
                <p:cNvSpPr txBox="1"/>
                <p:nvPr/>
              </p:nvSpPr>
              <p:spPr>
                <a:xfrm>
                  <a:off x="4460040" y="2044216"/>
                  <a:ext cx="2537129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dirty="0">
                      <a:solidFill>
                        <a:schemeClr val="bg2">
                          <a:lumMod val="50000"/>
                        </a:schemeClr>
                      </a:solidFill>
                    </a:rPr>
                    <a:t>Engine searches network for direct &amp; 1-layover paths.</a:t>
                  </a:r>
                  <a:endParaRPr lang="en-IN" dirty="0">
                    <a:solidFill>
                      <a:schemeClr val="bg2">
                        <a:lumMod val="50000"/>
                      </a:schemeClr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922B5DA-B40D-F489-32FC-18C51164735D}"/>
                    </a:ext>
                  </a:extLst>
                </p:cNvPr>
                <p:cNvSpPr txBox="1"/>
                <p:nvPr/>
              </p:nvSpPr>
              <p:spPr>
                <a:xfrm>
                  <a:off x="8931875" y="3813883"/>
                  <a:ext cx="223671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000" dirty="0">
                      <a:solidFill>
                        <a:schemeClr val="bg2"/>
                      </a:solidFill>
                      <a:latin typeface="Arial Rounded MT Bold" panose="020F0704030504030204" pitchFamily="34" charset="0"/>
                    </a:rPr>
                    <a:t>Logic Filtering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75CEA65-0843-2958-268E-F1F8833E9C65}"/>
                    </a:ext>
                  </a:extLst>
                </p:cNvPr>
                <p:cNvSpPr txBox="1"/>
                <p:nvPr/>
              </p:nvSpPr>
              <p:spPr>
                <a:xfrm>
                  <a:off x="8781667" y="4290193"/>
                  <a:ext cx="2537129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dirty="0">
                      <a:solidFill>
                        <a:schemeClr val="bg2">
                          <a:lumMod val="50000"/>
                        </a:schemeClr>
                      </a:solidFill>
                    </a:rPr>
                    <a:t>Routes are pruned based on buffers &amp; seat availability.</a:t>
                  </a:r>
                  <a:endParaRPr lang="en-IN" dirty="0">
                    <a:solidFill>
                      <a:schemeClr val="bg2">
                        <a:lumMod val="50000"/>
                      </a:schemeClr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31DA405-FDE4-8C19-E897-51D714C8B62A}"/>
                    </a:ext>
                  </a:extLst>
                </p:cNvPr>
                <p:cNvSpPr txBox="1"/>
                <p:nvPr/>
              </p:nvSpPr>
              <p:spPr>
                <a:xfrm>
                  <a:off x="13274472" y="1729528"/>
                  <a:ext cx="223671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000" dirty="0">
                      <a:solidFill>
                        <a:schemeClr val="bg2"/>
                      </a:solidFill>
                      <a:latin typeface="Arial Rounded MT Bold" panose="020F0704030504030204" pitchFamily="34" charset="0"/>
                    </a:rPr>
                    <a:t>Result Ranking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C608EF8-4DE4-3527-A082-7C30B67B8DBB}"/>
                    </a:ext>
                  </a:extLst>
                </p:cNvPr>
                <p:cNvSpPr txBox="1"/>
                <p:nvPr/>
              </p:nvSpPr>
              <p:spPr>
                <a:xfrm>
                  <a:off x="13124262" y="2080756"/>
                  <a:ext cx="2537129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dirty="0">
                      <a:solidFill>
                        <a:schemeClr val="bg2">
                          <a:lumMod val="50000"/>
                        </a:schemeClr>
                      </a:solidFill>
                    </a:rPr>
                    <a:t>Final itineraries ranked by travel time and low friction.</a:t>
                  </a:r>
                  <a:endParaRPr lang="en-IN" dirty="0">
                    <a:solidFill>
                      <a:schemeClr val="bg2">
                        <a:lumMod val="50000"/>
                      </a:schemeClr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07D6FFC-0EBE-18D4-49B6-F843FA82F130}"/>
                    </a:ext>
                  </a:extLst>
                </p:cNvPr>
                <p:cNvSpPr txBox="1"/>
                <p:nvPr/>
              </p:nvSpPr>
              <p:spPr>
                <a:xfrm>
                  <a:off x="17143149" y="3779968"/>
                  <a:ext cx="310068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000" dirty="0">
                      <a:solidFill>
                        <a:schemeClr val="bg2"/>
                      </a:solidFill>
                      <a:latin typeface="Arial Rounded MT Bold" panose="020F0704030504030204" pitchFamily="34" charset="0"/>
                    </a:rPr>
                    <a:t>Visual Timeline Render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742DA41-30B9-DCBB-C70B-7357F90A5D41}"/>
                    </a:ext>
                  </a:extLst>
                </p:cNvPr>
                <p:cNvSpPr txBox="1"/>
                <p:nvPr/>
              </p:nvSpPr>
              <p:spPr>
                <a:xfrm>
                  <a:off x="17424926" y="4180078"/>
                  <a:ext cx="2537129" cy="14773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dirty="0">
                      <a:solidFill>
                        <a:schemeClr val="bg2">
                          <a:lumMod val="50000"/>
                        </a:schemeClr>
                      </a:solidFill>
                    </a:rPr>
                    <a:t>The system maps the highest-ranked itinerary, highlighting transit hubs and exact layover durations.</a:t>
                  </a:r>
                  <a:endParaRPr lang="en-IN" dirty="0">
                    <a:solidFill>
                      <a:schemeClr val="bg2">
                        <a:lumMod val="50000"/>
                      </a:schemeClr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</p:grp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D56CF30B-A17B-8AA2-B3F5-0C55A771F686}"/>
                </a:ext>
              </a:extLst>
            </p:cNvPr>
            <p:cNvSpPr/>
            <p:nvPr/>
          </p:nvSpPr>
          <p:spPr>
            <a:xfrm>
              <a:off x="19131371" y="3336200"/>
              <a:ext cx="185599" cy="18559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679712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E05968-4058-1F76-B8C5-8182FE190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5E4CF2-FBF9-78E7-BCBE-35AA6C250B18}"/>
              </a:ext>
            </a:extLst>
          </p:cNvPr>
          <p:cNvSpPr txBox="1"/>
          <p:nvPr/>
        </p:nvSpPr>
        <p:spPr>
          <a:xfrm>
            <a:off x="187779" y="320070"/>
            <a:ext cx="53312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solidFill>
                  <a:schemeClr val="bg2"/>
                </a:solidFill>
                <a:latin typeface="Arial Black" panose="020B0A04020102020204" pitchFamily="34" charset="0"/>
              </a:rPr>
              <a:t>How It Works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3FA13F9-43F6-AE2E-DAC8-9F4719E84784}"/>
              </a:ext>
            </a:extLst>
          </p:cNvPr>
          <p:cNvGrpSpPr/>
          <p:nvPr/>
        </p:nvGrpSpPr>
        <p:grpSpPr>
          <a:xfrm>
            <a:off x="-8273143" y="1446791"/>
            <a:ext cx="20243833" cy="3964418"/>
            <a:chOff x="0" y="1692988"/>
            <a:chExt cx="20243833" cy="3964418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8ADDE38-917A-8852-09DF-260982ACA7DC}"/>
                </a:ext>
              </a:extLst>
            </p:cNvPr>
            <p:cNvGrpSpPr/>
            <p:nvPr/>
          </p:nvGrpSpPr>
          <p:grpSpPr>
            <a:xfrm>
              <a:off x="0" y="1692988"/>
              <a:ext cx="20243833" cy="3964418"/>
              <a:chOff x="0" y="1692988"/>
              <a:chExt cx="20243833" cy="3964418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D21EE9C-46E5-AD2D-FFDD-0AF0F2386CDC}"/>
                  </a:ext>
                </a:extLst>
              </p:cNvPr>
              <p:cNvSpPr txBox="1"/>
              <p:nvPr/>
            </p:nvSpPr>
            <p:spPr>
              <a:xfrm>
                <a:off x="44400" y="4366748"/>
                <a:ext cx="272515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dirty="0">
                    <a:solidFill>
                      <a:schemeClr val="bg2">
                        <a:lumMod val="50000"/>
                      </a:schemeClr>
                    </a:solidFill>
                  </a:rPr>
                  <a:t>User defines Source, Dest, Date, and critical Arrival Time.</a:t>
                </a:r>
                <a:endParaRPr lang="en-IN" dirty="0">
                  <a:solidFill>
                    <a:schemeClr val="bg2">
                      <a:lumMod val="50000"/>
                    </a:schemeClr>
                  </a:solidFill>
                  <a:latin typeface="Arial Rounded MT Bold" panose="020F0704030504030204" pitchFamily="34" charset="0"/>
                </a:endParaRPr>
              </a:p>
            </p:txBody>
          </p: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92EE8186-424B-1894-DDB3-83802EAFC61C}"/>
                  </a:ext>
                </a:extLst>
              </p:cNvPr>
              <p:cNvGrpSpPr/>
              <p:nvPr/>
            </p:nvGrpSpPr>
            <p:grpSpPr>
              <a:xfrm>
                <a:off x="0" y="1692988"/>
                <a:ext cx="20243833" cy="3964418"/>
                <a:chOff x="0" y="1692988"/>
                <a:chExt cx="20243833" cy="3964418"/>
              </a:xfrm>
            </p:grpSpPr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02E8ECE-133D-72DB-B139-2375C244067C}"/>
                    </a:ext>
                  </a:extLst>
                </p:cNvPr>
                <p:cNvSpPr txBox="1"/>
                <p:nvPr/>
              </p:nvSpPr>
              <p:spPr>
                <a:xfrm>
                  <a:off x="299912" y="3890083"/>
                  <a:ext cx="221413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000" dirty="0">
                      <a:solidFill>
                        <a:schemeClr val="bg2"/>
                      </a:solidFill>
                      <a:latin typeface="Arial Rounded MT Bold" panose="020F0704030504030204" pitchFamily="34" charset="0"/>
                    </a:rPr>
                    <a:t>Parameter Input</a:t>
                  </a:r>
                </a:p>
              </p:txBody>
            </p: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598DC2AB-3639-30A4-5126-6A95103F0CBD}"/>
                    </a:ext>
                  </a:extLst>
                </p:cNvPr>
                <p:cNvGrpSpPr/>
                <p:nvPr/>
              </p:nvGrpSpPr>
              <p:grpSpPr>
                <a:xfrm>
                  <a:off x="0" y="3219450"/>
                  <a:ext cx="19224171" cy="419100"/>
                  <a:chOff x="65314" y="4764314"/>
                  <a:chExt cx="19224171" cy="419100"/>
                </a:xfrm>
              </p:grpSpPr>
              <p:cxnSp>
                <p:nvCxnSpPr>
                  <p:cNvPr id="4" name="Straight Connector 3">
                    <a:extLst>
                      <a:ext uri="{FF2B5EF4-FFF2-40B4-BE49-F238E27FC236}">
                        <a16:creationId xmlns:a16="http://schemas.microsoft.com/office/drawing/2014/main" id="{2A0089FE-30C9-3C36-EFD7-3A4E2343054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5314" y="4973864"/>
                    <a:ext cx="19224171" cy="0"/>
                  </a:xfrm>
                  <a:prstGeom prst="line">
                    <a:avLst/>
                  </a:prstGeom>
                  <a:ln/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9" name="Group 8">
                    <a:extLst>
                      <a:ext uri="{FF2B5EF4-FFF2-40B4-BE49-F238E27FC236}">
                        <a16:creationId xmlns:a16="http://schemas.microsoft.com/office/drawing/2014/main" id="{30E180EA-FCE8-B639-5A56-6FFE1898F44C}"/>
                      </a:ext>
                    </a:extLst>
                  </p:cNvPr>
                  <p:cNvGrpSpPr/>
                  <p:nvPr/>
                </p:nvGrpSpPr>
                <p:grpSpPr>
                  <a:xfrm>
                    <a:off x="1262743" y="4764314"/>
                    <a:ext cx="419100" cy="419100"/>
                    <a:chOff x="1197429" y="3429000"/>
                    <a:chExt cx="419100" cy="419100"/>
                  </a:xfrm>
                </p:grpSpPr>
                <p:sp>
                  <p:nvSpPr>
                    <p:cNvPr id="5" name="Oval 4">
                      <a:extLst>
                        <a:ext uri="{FF2B5EF4-FFF2-40B4-BE49-F238E27FC236}">
                          <a16:creationId xmlns:a16="http://schemas.microsoft.com/office/drawing/2014/main" id="{38B65CDB-8365-DCFC-8069-A8E309AE91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97429" y="3429000"/>
                      <a:ext cx="419100" cy="419100"/>
                    </a:xfrm>
                    <a:prstGeom prst="ellipse">
                      <a:avLst/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  <p:sp>
                  <p:nvSpPr>
                    <p:cNvPr id="7" name="Oval 6">
                      <a:extLst>
                        <a:ext uri="{FF2B5EF4-FFF2-40B4-BE49-F238E27FC236}">
                          <a16:creationId xmlns:a16="http://schemas.microsoft.com/office/drawing/2014/main" id="{0A194A7A-55A9-CD89-4780-0AE46EC9FE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73629" y="3505200"/>
                      <a:ext cx="266700" cy="266700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</p:grpSp>
              <p:grpSp>
                <p:nvGrpSpPr>
                  <p:cNvPr id="10" name="Group 9">
                    <a:extLst>
                      <a:ext uri="{FF2B5EF4-FFF2-40B4-BE49-F238E27FC236}">
                        <a16:creationId xmlns:a16="http://schemas.microsoft.com/office/drawing/2014/main" id="{EE664527-9237-4467-09B0-E5A01D7CB23E}"/>
                      </a:ext>
                    </a:extLst>
                  </p:cNvPr>
                  <p:cNvGrpSpPr/>
                  <p:nvPr/>
                </p:nvGrpSpPr>
                <p:grpSpPr>
                  <a:xfrm>
                    <a:off x="5584371" y="4764314"/>
                    <a:ext cx="419100" cy="419100"/>
                    <a:chOff x="1197429" y="3429000"/>
                    <a:chExt cx="419100" cy="419100"/>
                  </a:xfrm>
                </p:grpSpPr>
                <p:sp>
                  <p:nvSpPr>
                    <p:cNvPr id="11" name="Oval 10">
                      <a:extLst>
                        <a:ext uri="{FF2B5EF4-FFF2-40B4-BE49-F238E27FC236}">
                          <a16:creationId xmlns:a16="http://schemas.microsoft.com/office/drawing/2014/main" id="{0059485D-5779-524E-FF53-6C2174933D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97429" y="3429000"/>
                      <a:ext cx="419100" cy="419100"/>
                    </a:xfrm>
                    <a:prstGeom prst="ellipse">
                      <a:avLst/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  <p:sp>
                  <p:nvSpPr>
                    <p:cNvPr id="12" name="Oval 11">
                      <a:extLst>
                        <a:ext uri="{FF2B5EF4-FFF2-40B4-BE49-F238E27FC236}">
                          <a16:creationId xmlns:a16="http://schemas.microsoft.com/office/drawing/2014/main" id="{01633DDD-334F-76F4-7732-EA0B8E36EB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73629" y="3505200"/>
                      <a:ext cx="266700" cy="266700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</p:grpSp>
              <p:grpSp>
                <p:nvGrpSpPr>
                  <p:cNvPr id="13" name="Group 12">
                    <a:extLst>
                      <a:ext uri="{FF2B5EF4-FFF2-40B4-BE49-F238E27FC236}">
                        <a16:creationId xmlns:a16="http://schemas.microsoft.com/office/drawing/2014/main" id="{7AEDFE46-8444-8B65-ABA7-E4BBFCF7A7A4}"/>
                      </a:ext>
                    </a:extLst>
                  </p:cNvPr>
                  <p:cNvGrpSpPr/>
                  <p:nvPr/>
                </p:nvGrpSpPr>
                <p:grpSpPr>
                  <a:xfrm>
                    <a:off x="9905999" y="4764314"/>
                    <a:ext cx="9062356" cy="419100"/>
                    <a:chOff x="1197429" y="3429000"/>
                    <a:chExt cx="9062356" cy="419100"/>
                  </a:xfrm>
                </p:grpSpPr>
                <p:sp>
                  <p:nvSpPr>
                    <p:cNvPr id="14" name="Oval 13">
                      <a:extLst>
                        <a:ext uri="{FF2B5EF4-FFF2-40B4-BE49-F238E27FC236}">
                          <a16:creationId xmlns:a16="http://schemas.microsoft.com/office/drawing/2014/main" id="{5FD5C9AE-E89B-61E0-C287-7E1D197570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97429" y="3429000"/>
                      <a:ext cx="419100" cy="419100"/>
                    </a:xfrm>
                    <a:prstGeom prst="ellipse">
                      <a:avLst/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  <p:sp>
                  <p:nvSpPr>
                    <p:cNvPr id="15" name="Oval 14">
                      <a:extLst>
                        <a:ext uri="{FF2B5EF4-FFF2-40B4-BE49-F238E27FC236}">
                          <a16:creationId xmlns:a16="http://schemas.microsoft.com/office/drawing/2014/main" id="{4B905416-C040-C8E2-E264-FFF101039B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73629" y="3505200"/>
                      <a:ext cx="266700" cy="266700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  <p:sp>
                  <p:nvSpPr>
                    <p:cNvPr id="20" name="Oval 19">
                      <a:extLst>
                        <a:ext uri="{FF2B5EF4-FFF2-40B4-BE49-F238E27FC236}">
                          <a16:creationId xmlns:a16="http://schemas.microsoft.com/office/drawing/2014/main" id="{10558D59-4022-6591-5773-150D49A6B9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19057" y="3429000"/>
                      <a:ext cx="419100" cy="419100"/>
                    </a:xfrm>
                    <a:prstGeom prst="ellipse">
                      <a:avLst/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  <p:sp>
                  <p:nvSpPr>
                    <p:cNvPr id="21" name="Oval 20">
                      <a:extLst>
                        <a:ext uri="{FF2B5EF4-FFF2-40B4-BE49-F238E27FC236}">
                          <a16:creationId xmlns:a16="http://schemas.microsoft.com/office/drawing/2014/main" id="{E6BD9475-8498-7B25-9BBC-73B580A586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95257" y="3505200"/>
                      <a:ext cx="266700" cy="266700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  <p:sp>
                  <p:nvSpPr>
                    <p:cNvPr id="22" name="Oval 21">
                      <a:extLst>
                        <a:ext uri="{FF2B5EF4-FFF2-40B4-BE49-F238E27FC236}">
                          <a16:creationId xmlns:a16="http://schemas.microsoft.com/office/drawing/2014/main" id="{32353E10-EBDA-3822-B4B6-16D22E388D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40685" y="3429000"/>
                      <a:ext cx="419100" cy="419100"/>
                    </a:xfrm>
                    <a:prstGeom prst="ellipse">
                      <a:avLst/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  <p:sp>
                  <p:nvSpPr>
                    <p:cNvPr id="23" name="Oval 22">
                      <a:extLst>
                        <a:ext uri="{FF2B5EF4-FFF2-40B4-BE49-F238E27FC236}">
                          <a16:creationId xmlns:a16="http://schemas.microsoft.com/office/drawing/2014/main" id="{D6598A07-F151-3D0F-8437-9094D5B65B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16885" y="3505200"/>
                      <a:ext cx="266700" cy="266700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</p:grpSp>
            </p:grp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4914BD5-0864-66E6-B153-0379FB12E6EE}"/>
                    </a:ext>
                  </a:extLst>
                </p:cNvPr>
                <p:cNvSpPr txBox="1"/>
                <p:nvPr/>
              </p:nvSpPr>
              <p:spPr>
                <a:xfrm>
                  <a:off x="4610250" y="1692988"/>
                  <a:ext cx="223671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000" dirty="0">
                      <a:solidFill>
                        <a:schemeClr val="bg2"/>
                      </a:solidFill>
                      <a:latin typeface="Arial Rounded MT Bold" panose="020F0704030504030204" pitchFamily="34" charset="0"/>
                    </a:rPr>
                    <a:t>Graph Traversal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34459F4-A3F0-F593-0A43-083E282754FA}"/>
                    </a:ext>
                  </a:extLst>
                </p:cNvPr>
                <p:cNvSpPr txBox="1"/>
                <p:nvPr/>
              </p:nvSpPr>
              <p:spPr>
                <a:xfrm>
                  <a:off x="4460040" y="2044216"/>
                  <a:ext cx="2537129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dirty="0">
                      <a:solidFill>
                        <a:schemeClr val="bg2">
                          <a:lumMod val="50000"/>
                        </a:schemeClr>
                      </a:solidFill>
                    </a:rPr>
                    <a:t>Engine searches network for direct &amp; 1-layover paths.</a:t>
                  </a:r>
                  <a:endParaRPr lang="en-IN" dirty="0">
                    <a:solidFill>
                      <a:schemeClr val="bg2">
                        <a:lumMod val="50000"/>
                      </a:schemeClr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A1BE37E-DD96-FBCE-9DF4-26F300F51B4F}"/>
                    </a:ext>
                  </a:extLst>
                </p:cNvPr>
                <p:cNvSpPr txBox="1"/>
                <p:nvPr/>
              </p:nvSpPr>
              <p:spPr>
                <a:xfrm>
                  <a:off x="8931875" y="3813883"/>
                  <a:ext cx="223671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000" dirty="0">
                      <a:solidFill>
                        <a:schemeClr val="bg2"/>
                      </a:solidFill>
                      <a:latin typeface="Arial Rounded MT Bold" panose="020F0704030504030204" pitchFamily="34" charset="0"/>
                    </a:rPr>
                    <a:t>Logic Filtering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9D5F95F-AEA7-C16E-05FF-EE8AC60409D1}"/>
                    </a:ext>
                  </a:extLst>
                </p:cNvPr>
                <p:cNvSpPr txBox="1"/>
                <p:nvPr/>
              </p:nvSpPr>
              <p:spPr>
                <a:xfrm>
                  <a:off x="8781667" y="4290193"/>
                  <a:ext cx="2537129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dirty="0">
                      <a:solidFill>
                        <a:schemeClr val="bg2">
                          <a:lumMod val="50000"/>
                        </a:schemeClr>
                      </a:solidFill>
                    </a:rPr>
                    <a:t>Routes are pruned based on buffers &amp; seat availability.</a:t>
                  </a:r>
                  <a:endParaRPr lang="en-IN" dirty="0">
                    <a:solidFill>
                      <a:schemeClr val="bg2">
                        <a:lumMod val="50000"/>
                      </a:schemeClr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3A07E3B-A2B8-FB7A-E0A6-97CCEAA58E94}"/>
                    </a:ext>
                  </a:extLst>
                </p:cNvPr>
                <p:cNvSpPr txBox="1"/>
                <p:nvPr/>
              </p:nvSpPr>
              <p:spPr>
                <a:xfrm>
                  <a:off x="13274472" y="1729528"/>
                  <a:ext cx="223671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000" dirty="0">
                      <a:solidFill>
                        <a:schemeClr val="bg2"/>
                      </a:solidFill>
                      <a:latin typeface="Arial Rounded MT Bold" panose="020F0704030504030204" pitchFamily="34" charset="0"/>
                    </a:rPr>
                    <a:t>Result Ranking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3622001-F042-0BFD-6BCC-2C1DC65FF912}"/>
                    </a:ext>
                  </a:extLst>
                </p:cNvPr>
                <p:cNvSpPr txBox="1"/>
                <p:nvPr/>
              </p:nvSpPr>
              <p:spPr>
                <a:xfrm>
                  <a:off x="13124262" y="2080756"/>
                  <a:ext cx="2537129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dirty="0">
                      <a:solidFill>
                        <a:schemeClr val="bg2">
                          <a:lumMod val="50000"/>
                        </a:schemeClr>
                      </a:solidFill>
                    </a:rPr>
                    <a:t>Final itineraries ranked by travel time and low friction.</a:t>
                  </a:r>
                  <a:endParaRPr lang="en-IN" dirty="0">
                    <a:solidFill>
                      <a:schemeClr val="bg2">
                        <a:lumMod val="50000"/>
                      </a:schemeClr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03CB6FE-7A56-8F02-8B08-5AA8AC886519}"/>
                    </a:ext>
                  </a:extLst>
                </p:cNvPr>
                <p:cNvSpPr txBox="1"/>
                <p:nvPr/>
              </p:nvSpPr>
              <p:spPr>
                <a:xfrm>
                  <a:off x="17143149" y="3779968"/>
                  <a:ext cx="310068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000" dirty="0">
                      <a:solidFill>
                        <a:schemeClr val="bg2"/>
                      </a:solidFill>
                      <a:latin typeface="Arial Rounded MT Bold" panose="020F0704030504030204" pitchFamily="34" charset="0"/>
                    </a:rPr>
                    <a:t>Visual Timeline Render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718F3D27-8F10-A33B-A000-B26145E36E52}"/>
                    </a:ext>
                  </a:extLst>
                </p:cNvPr>
                <p:cNvSpPr txBox="1"/>
                <p:nvPr/>
              </p:nvSpPr>
              <p:spPr>
                <a:xfrm>
                  <a:off x="17424926" y="4180078"/>
                  <a:ext cx="2537129" cy="14773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dirty="0">
                      <a:solidFill>
                        <a:schemeClr val="bg2">
                          <a:lumMod val="50000"/>
                        </a:schemeClr>
                      </a:solidFill>
                    </a:rPr>
                    <a:t>The system maps the highest-ranked itinerary, highlighting transit hubs and exact layover durations.</a:t>
                  </a:r>
                  <a:endParaRPr lang="en-IN" dirty="0">
                    <a:solidFill>
                      <a:schemeClr val="bg2">
                        <a:lumMod val="50000"/>
                      </a:schemeClr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</p:grp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342CFA0C-5D0A-96A9-AC97-604FDD48D273}"/>
                </a:ext>
              </a:extLst>
            </p:cNvPr>
            <p:cNvSpPr/>
            <p:nvPr/>
          </p:nvSpPr>
          <p:spPr>
            <a:xfrm>
              <a:off x="19131371" y="3336200"/>
              <a:ext cx="185599" cy="18559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41342180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DEB2E5-E5AC-0E16-787F-385F55FC4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94E9EA-9010-A1A8-6248-C4159ADFE525}"/>
              </a:ext>
            </a:extLst>
          </p:cNvPr>
          <p:cNvSpPr txBox="1"/>
          <p:nvPr/>
        </p:nvSpPr>
        <p:spPr>
          <a:xfrm>
            <a:off x="2362893" y="2967335"/>
            <a:ext cx="74662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solidFill>
                  <a:schemeClr val="bg2"/>
                </a:solidFill>
                <a:latin typeface="Arial Black" panose="020B0A04020102020204" pitchFamily="34" charset="0"/>
              </a:rPr>
              <a:t>Projected Impacts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6E4D524-71D6-9582-5854-723B3404DFD5}"/>
              </a:ext>
            </a:extLst>
          </p:cNvPr>
          <p:cNvGrpSpPr/>
          <p:nvPr/>
        </p:nvGrpSpPr>
        <p:grpSpPr>
          <a:xfrm>
            <a:off x="176842" y="7326154"/>
            <a:ext cx="5745479" cy="3108543"/>
            <a:chOff x="217714" y="1947820"/>
            <a:chExt cx="6536872" cy="310854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92D1C0F-6653-2358-0CFD-FB17374F9165}"/>
                </a:ext>
              </a:extLst>
            </p:cNvPr>
            <p:cNvGrpSpPr/>
            <p:nvPr/>
          </p:nvGrpSpPr>
          <p:grpSpPr>
            <a:xfrm>
              <a:off x="217714" y="3886812"/>
              <a:ext cx="6536872" cy="1169551"/>
              <a:chOff x="850899" y="3975048"/>
              <a:chExt cx="6536872" cy="1169551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9E9B910-AB2D-90D3-A920-808EE5166D67}"/>
                  </a:ext>
                </a:extLst>
              </p:cNvPr>
              <p:cNvSpPr txBox="1"/>
              <p:nvPr/>
            </p:nvSpPr>
            <p:spPr>
              <a:xfrm>
                <a:off x="850899" y="3975048"/>
                <a:ext cx="65368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400" b="1" dirty="0">
                    <a:solidFill>
                      <a:schemeClr val="bg2"/>
                    </a:solidFill>
                    <a:latin typeface="Arial Rounded MT Bold" panose="020F0704030504030204" pitchFamily="34" charset="0"/>
                  </a:rPr>
                  <a:t>Reduced Search Time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7D48BC8-DC83-E1ED-AE10-4052C01AEB41}"/>
                  </a:ext>
                </a:extLst>
              </p:cNvPr>
              <p:cNvSpPr txBox="1"/>
              <p:nvPr/>
            </p:nvSpPr>
            <p:spPr>
              <a:xfrm>
                <a:off x="850899" y="4436713"/>
                <a:ext cx="653687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000" dirty="0">
                    <a:solidFill>
                      <a:schemeClr val="bg2">
                        <a:lumMod val="50000"/>
                      </a:schemeClr>
                    </a:solidFill>
                  </a:rPr>
                  <a:t>Eliminates the hours spent cross-referencing multiple tabs and timetables manually.</a:t>
                </a:r>
                <a:endParaRPr lang="en-IN" sz="2000" dirty="0">
                  <a:solidFill>
                    <a:schemeClr val="bg2">
                      <a:lumMod val="50000"/>
                    </a:schemeClr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398C45B-FAB4-A295-CAE7-3A5606EFFFF4}"/>
                </a:ext>
              </a:extLst>
            </p:cNvPr>
            <p:cNvSpPr txBox="1"/>
            <p:nvPr/>
          </p:nvSpPr>
          <p:spPr>
            <a:xfrm>
              <a:off x="217714" y="1947820"/>
              <a:ext cx="6536872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0" b="1" dirty="0">
                  <a:solidFill>
                    <a:schemeClr val="accent3">
                      <a:lumMod val="40000"/>
                      <a:lumOff val="60000"/>
                    </a:schemeClr>
                  </a:solidFill>
                  <a:latin typeface="Eras Bold ITC" panose="020B0907030504020204" pitchFamily="34" charset="0"/>
                </a:rPr>
                <a:t>85%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78306CE-0D54-C9F4-48C4-CEFAB08D0889}"/>
              </a:ext>
            </a:extLst>
          </p:cNvPr>
          <p:cNvGrpSpPr/>
          <p:nvPr/>
        </p:nvGrpSpPr>
        <p:grpSpPr>
          <a:xfrm>
            <a:off x="6229892" y="7326154"/>
            <a:ext cx="5962108" cy="3319000"/>
            <a:chOff x="6320971" y="3117371"/>
            <a:chExt cx="6536872" cy="331900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AB29B31-41DE-3562-AAC4-8DB431248E3D}"/>
                </a:ext>
              </a:extLst>
            </p:cNvPr>
            <p:cNvSpPr txBox="1"/>
            <p:nvPr/>
          </p:nvSpPr>
          <p:spPr>
            <a:xfrm>
              <a:off x="6320971" y="3117371"/>
              <a:ext cx="6536872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0" b="1" dirty="0">
                  <a:solidFill>
                    <a:schemeClr val="accent3">
                      <a:lumMod val="40000"/>
                      <a:lumOff val="60000"/>
                    </a:schemeClr>
                  </a:solidFill>
                  <a:latin typeface="Eras Bold ITC" panose="020B0907030504020204" pitchFamily="34" charset="0"/>
                </a:rPr>
                <a:t>3x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AA8F064-012E-3CE9-B901-43234B374C7A}"/>
                </a:ext>
              </a:extLst>
            </p:cNvPr>
            <p:cNvGrpSpPr/>
            <p:nvPr/>
          </p:nvGrpSpPr>
          <p:grpSpPr>
            <a:xfrm>
              <a:off x="6320971" y="5266820"/>
              <a:ext cx="6536872" cy="1169551"/>
              <a:chOff x="6008914" y="5056363"/>
              <a:chExt cx="6536872" cy="116955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16EC99E-F6F5-94C9-E222-FBDF69E1007B}"/>
                  </a:ext>
                </a:extLst>
              </p:cNvPr>
              <p:cNvSpPr txBox="1"/>
              <p:nvPr/>
            </p:nvSpPr>
            <p:spPr>
              <a:xfrm>
                <a:off x="6008914" y="5056363"/>
                <a:ext cx="65368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400" b="1" dirty="0">
                    <a:solidFill>
                      <a:schemeClr val="bg2"/>
                    </a:solidFill>
                    <a:latin typeface="Arial Rounded MT Bold" panose="020F0704030504030204" pitchFamily="34" charset="0"/>
                  </a:rPr>
                  <a:t>More Viable Roots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15DA5A3-F5A3-3862-05AC-67BF19F47B22}"/>
                  </a:ext>
                </a:extLst>
              </p:cNvPr>
              <p:cNvSpPr txBox="1"/>
              <p:nvPr/>
            </p:nvSpPr>
            <p:spPr>
              <a:xfrm>
                <a:off x="6008914" y="5518028"/>
                <a:ext cx="653687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000" dirty="0">
                    <a:solidFill>
                      <a:schemeClr val="bg2">
                        <a:lumMod val="50000"/>
                      </a:schemeClr>
                    </a:solidFill>
                  </a:rPr>
                  <a:t>By unlocking 1-stop connections, users have significantly higher chances of securing a ticket.</a:t>
                </a:r>
                <a:endParaRPr lang="en-IN" sz="2000" dirty="0">
                  <a:solidFill>
                    <a:schemeClr val="bg2">
                      <a:lumMod val="50000"/>
                    </a:schemeClr>
                  </a:solidFill>
                  <a:latin typeface="Arial Rounded MT Bold" panose="020F070403050403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37136296"/>
      </p:ext>
    </p:extLst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ED3FD9-4ADC-71B6-A65C-A6240875A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30C51D-7EBE-37A6-30CB-64083E65C761}"/>
              </a:ext>
            </a:extLst>
          </p:cNvPr>
          <p:cNvSpPr txBox="1"/>
          <p:nvPr/>
        </p:nvSpPr>
        <p:spPr>
          <a:xfrm>
            <a:off x="392776" y="357138"/>
            <a:ext cx="74662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solidFill>
                  <a:schemeClr val="bg2"/>
                </a:solidFill>
                <a:latin typeface="Arial Black" panose="020B0A04020102020204" pitchFamily="34" charset="0"/>
              </a:rPr>
              <a:t>Projected Impacts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36F6DFD-3CDC-9A0C-5708-2EEA5BDC696F}"/>
              </a:ext>
            </a:extLst>
          </p:cNvPr>
          <p:cNvGrpSpPr/>
          <p:nvPr/>
        </p:nvGrpSpPr>
        <p:grpSpPr>
          <a:xfrm>
            <a:off x="168529" y="1874728"/>
            <a:ext cx="5745479" cy="3108543"/>
            <a:chOff x="217714" y="1947820"/>
            <a:chExt cx="6536872" cy="310854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AB8B0BC-9D55-1330-4718-1E2AB220B1CA}"/>
                </a:ext>
              </a:extLst>
            </p:cNvPr>
            <p:cNvGrpSpPr/>
            <p:nvPr/>
          </p:nvGrpSpPr>
          <p:grpSpPr>
            <a:xfrm>
              <a:off x="217714" y="3886812"/>
              <a:ext cx="6536872" cy="1169551"/>
              <a:chOff x="850899" y="3975048"/>
              <a:chExt cx="6536872" cy="1169551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AC6F3F6-6FE7-E551-0CD7-6A784E4486C3}"/>
                  </a:ext>
                </a:extLst>
              </p:cNvPr>
              <p:cNvSpPr txBox="1"/>
              <p:nvPr/>
            </p:nvSpPr>
            <p:spPr>
              <a:xfrm>
                <a:off x="850899" y="3975048"/>
                <a:ext cx="65368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400" b="1" dirty="0">
                    <a:solidFill>
                      <a:schemeClr val="bg2"/>
                    </a:solidFill>
                    <a:latin typeface="Arial Rounded MT Bold" panose="020F0704030504030204" pitchFamily="34" charset="0"/>
                  </a:rPr>
                  <a:t>Reduced Search Time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CB6E4D7-82FE-C993-E22C-3ED1F3F71E82}"/>
                  </a:ext>
                </a:extLst>
              </p:cNvPr>
              <p:cNvSpPr txBox="1"/>
              <p:nvPr/>
            </p:nvSpPr>
            <p:spPr>
              <a:xfrm>
                <a:off x="850899" y="4436713"/>
                <a:ext cx="653687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000" dirty="0">
                    <a:solidFill>
                      <a:schemeClr val="bg2">
                        <a:lumMod val="50000"/>
                      </a:schemeClr>
                    </a:solidFill>
                  </a:rPr>
                  <a:t>Eliminates the hours spent cross-referencing multiple tabs and timetables manually.</a:t>
                </a:r>
                <a:endParaRPr lang="en-IN" sz="2000" dirty="0">
                  <a:solidFill>
                    <a:schemeClr val="bg2">
                      <a:lumMod val="50000"/>
                    </a:schemeClr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89B0555-58A0-2472-150C-E04B7D43501A}"/>
                </a:ext>
              </a:extLst>
            </p:cNvPr>
            <p:cNvSpPr txBox="1"/>
            <p:nvPr/>
          </p:nvSpPr>
          <p:spPr>
            <a:xfrm>
              <a:off x="217714" y="1947820"/>
              <a:ext cx="6536872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0" b="1" dirty="0">
                  <a:solidFill>
                    <a:schemeClr val="accent3">
                      <a:lumMod val="40000"/>
                      <a:lumOff val="60000"/>
                    </a:schemeClr>
                  </a:solidFill>
                  <a:latin typeface="Eras Bold ITC" panose="020B0907030504020204" pitchFamily="34" charset="0"/>
                </a:rPr>
                <a:t>85%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3B364AB-D6DE-FFB6-E97E-8522A81C56BF}"/>
              </a:ext>
            </a:extLst>
          </p:cNvPr>
          <p:cNvGrpSpPr/>
          <p:nvPr/>
        </p:nvGrpSpPr>
        <p:grpSpPr>
          <a:xfrm>
            <a:off x="6229892" y="7326154"/>
            <a:ext cx="5962108" cy="3319000"/>
            <a:chOff x="6320971" y="3117371"/>
            <a:chExt cx="6536872" cy="331900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AAF8DF6-298E-C4DD-9DBC-48F134EA788E}"/>
                </a:ext>
              </a:extLst>
            </p:cNvPr>
            <p:cNvSpPr txBox="1"/>
            <p:nvPr/>
          </p:nvSpPr>
          <p:spPr>
            <a:xfrm>
              <a:off x="6320971" y="3117371"/>
              <a:ext cx="6536872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0" b="1" dirty="0">
                  <a:solidFill>
                    <a:schemeClr val="accent3">
                      <a:lumMod val="40000"/>
                      <a:lumOff val="60000"/>
                    </a:schemeClr>
                  </a:solidFill>
                  <a:latin typeface="Eras Bold ITC" panose="020B0907030504020204" pitchFamily="34" charset="0"/>
                </a:rPr>
                <a:t>3x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7CC94C5-B1EF-F89C-1AB2-51678D42AE51}"/>
                </a:ext>
              </a:extLst>
            </p:cNvPr>
            <p:cNvGrpSpPr/>
            <p:nvPr/>
          </p:nvGrpSpPr>
          <p:grpSpPr>
            <a:xfrm>
              <a:off x="6320971" y="5266820"/>
              <a:ext cx="6536872" cy="1169551"/>
              <a:chOff x="6008914" y="5056363"/>
              <a:chExt cx="6536872" cy="116955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C06E646-F8DB-A111-B021-817E34844100}"/>
                  </a:ext>
                </a:extLst>
              </p:cNvPr>
              <p:cNvSpPr txBox="1"/>
              <p:nvPr/>
            </p:nvSpPr>
            <p:spPr>
              <a:xfrm>
                <a:off x="6008914" y="5056363"/>
                <a:ext cx="65368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400" b="1" dirty="0">
                    <a:solidFill>
                      <a:schemeClr val="bg2"/>
                    </a:solidFill>
                    <a:latin typeface="Arial Rounded MT Bold" panose="020F0704030504030204" pitchFamily="34" charset="0"/>
                  </a:rPr>
                  <a:t>More Viable Roots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801BEC2-3A10-3F6E-612B-7163B0F8365B}"/>
                  </a:ext>
                </a:extLst>
              </p:cNvPr>
              <p:cNvSpPr txBox="1"/>
              <p:nvPr/>
            </p:nvSpPr>
            <p:spPr>
              <a:xfrm>
                <a:off x="6008914" y="5518028"/>
                <a:ext cx="653687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000" dirty="0">
                    <a:solidFill>
                      <a:schemeClr val="bg2">
                        <a:lumMod val="50000"/>
                      </a:schemeClr>
                    </a:solidFill>
                  </a:rPr>
                  <a:t>By unlocking 1-stop connections, users have significantly higher chances of securing a ticket.</a:t>
                </a:r>
                <a:endParaRPr lang="en-IN" sz="2000" dirty="0">
                  <a:solidFill>
                    <a:schemeClr val="bg2">
                      <a:lumMod val="50000"/>
                    </a:schemeClr>
                  </a:solidFill>
                  <a:latin typeface="Arial Rounded MT Bold" panose="020F070403050403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09555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B8C3E5-37EE-D7CF-1F69-957622176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178EA0-3DC4-65A8-3556-8B780E636D22}"/>
              </a:ext>
            </a:extLst>
          </p:cNvPr>
          <p:cNvSpPr txBox="1"/>
          <p:nvPr/>
        </p:nvSpPr>
        <p:spPr>
          <a:xfrm>
            <a:off x="392776" y="357138"/>
            <a:ext cx="74662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solidFill>
                  <a:schemeClr val="bg2"/>
                </a:solidFill>
                <a:latin typeface="Arial Black" panose="020B0A04020102020204" pitchFamily="34" charset="0"/>
              </a:rPr>
              <a:t>Projected Impacts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CAC9831-1990-CC72-98C7-D487D31FE4D6}"/>
              </a:ext>
            </a:extLst>
          </p:cNvPr>
          <p:cNvGrpSpPr/>
          <p:nvPr/>
        </p:nvGrpSpPr>
        <p:grpSpPr>
          <a:xfrm>
            <a:off x="168529" y="1874728"/>
            <a:ext cx="5745479" cy="3108543"/>
            <a:chOff x="217714" y="1947820"/>
            <a:chExt cx="6536872" cy="310854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3EDAF06-C7F7-8ADE-1A47-C503BF616F84}"/>
                </a:ext>
              </a:extLst>
            </p:cNvPr>
            <p:cNvGrpSpPr/>
            <p:nvPr/>
          </p:nvGrpSpPr>
          <p:grpSpPr>
            <a:xfrm>
              <a:off x="217714" y="3886812"/>
              <a:ext cx="6536872" cy="1169551"/>
              <a:chOff x="850899" y="3975048"/>
              <a:chExt cx="6536872" cy="1169551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DE61E67-3FCA-C723-7679-E3BE9446AB52}"/>
                  </a:ext>
                </a:extLst>
              </p:cNvPr>
              <p:cNvSpPr txBox="1"/>
              <p:nvPr/>
            </p:nvSpPr>
            <p:spPr>
              <a:xfrm>
                <a:off x="850899" y="3975048"/>
                <a:ext cx="65368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400" b="1" dirty="0">
                    <a:solidFill>
                      <a:schemeClr val="bg2"/>
                    </a:solidFill>
                    <a:latin typeface="Arial Rounded MT Bold" panose="020F0704030504030204" pitchFamily="34" charset="0"/>
                  </a:rPr>
                  <a:t>Reduced Search Time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EEAEA3-871C-B7A6-CE79-A82CDFA26E6B}"/>
                  </a:ext>
                </a:extLst>
              </p:cNvPr>
              <p:cNvSpPr txBox="1"/>
              <p:nvPr/>
            </p:nvSpPr>
            <p:spPr>
              <a:xfrm>
                <a:off x="850899" y="4436713"/>
                <a:ext cx="653687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000" dirty="0">
                    <a:solidFill>
                      <a:schemeClr val="bg2">
                        <a:lumMod val="50000"/>
                      </a:schemeClr>
                    </a:solidFill>
                  </a:rPr>
                  <a:t>Eliminates the hours spent cross-referencing multiple tabs and timetables manually.</a:t>
                </a:r>
                <a:endParaRPr lang="en-IN" sz="2000" dirty="0">
                  <a:solidFill>
                    <a:schemeClr val="bg2">
                      <a:lumMod val="50000"/>
                    </a:schemeClr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D8748F5-2033-983B-6EC8-20B688B33042}"/>
                </a:ext>
              </a:extLst>
            </p:cNvPr>
            <p:cNvSpPr txBox="1"/>
            <p:nvPr/>
          </p:nvSpPr>
          <p:spPr>
            <a:xfrm>
              <a:off x="217714" y="1947820"/>
              <a:ext cx="6536872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0" b="1" dirty="0">
                  <a:solidFill>
                    <a:schemeClr val="accent3">
                      <a:lumMod val="40000"/>
                      <a:lumOff val="60000"/>
                    </a:schemeClr>
                  </a:solidFill>
                  <a:latin typeface="Eras Bold ITC" panose="020B0907030504020204" pitchFamily="34" charset="0"/>
                </a:rPr>
                <a:t>85%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F5D15AF-594C-2B41-E9B6-FBA874A02191}"/>
              </a:ext>
            </a:extLst>
          </p:cNvPr>
          <p:cNvGrpSpPr/>
          <p:nvPr/>
        </p:nvGrpSpPr>
        <p:grpSpPr>
          <a:xfrm>
            <a:off x="5914008" y="1874728"/>
            <a:ext cx="5962108" cy="3319000"/>
            <a:chOff x="6320971" y="3117371"/>
            <a:chExt cx="6536872" cy="331900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7C329C5-3842-76B8-AEC3-A7C5A3FE6978}"/>
                </a:ext>
              </a:extLst>
            </p:cNvPr>
            <p:cNvSpPr txBox="1"/>
            <p:nvPr/>
          </p:nvSpPr>
          <p:spPr>
            <a:xfrm>
              <a:off x="6320971" y="3117371"/>
              <a:ext cx="6536872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0" b="1" dirty="0">
                  <a:solidFill>
                    <a:schemeClr val="accent3">
                      <a:lumMod val="40000"/>
                      <a:lumOff val="60000"/>
                    </a:schemeClr>
                  </a:solidFill>
                  <a:latin typeface="Eras Bold ITC" panose="020B0907030504020204" pitchFamily="34" charset="0"/>
                </a:rPr>
                <a:t>3x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372E037-23F3-846C-3DCA-26D34D33DAA9}"/>
                </a:ext>
              </a:extLst>
            </p:cNvPr>
            <p:cNvGrpSpPr/>
            <p:nvPr/>
          </p:nvGrpSpPr>
          <p:grpSpPr>
            <a:xfrm>
              <a:off x="6320971" y="5266820"/>
              <a:ext cx="6536872" cy="1169551"/>
              <a:chOff x="6008914" y="5056363"/>
              <a:chExt cx="6536872" cy="116955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259E357-949F-84BD-64AA-C9C970E01C23}"/>
                  </a:ext>
                </a:extLst>
              </p:cNvPr>
              <p:cNvSpPr txBox="1"/>
              <p:nvPr/>
            </p:nvSpPr>
            <p:spPr>
              <a:xfrm>
                <a:off x="6008914" y="5056363"/>
                <a:ext cx="65368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400" b="1" dirty="0">
                    <a:solidFill>
                      <a:schemeClr val="bg2"/>
                    </a:solidFill>
                    <a:latin typeface="Arial Rounded MT Bold" panose="020F0704030504030204" pitchFamily="34" charset="0"/>
                  </a:rPr>
                  <a:t>More Viable Roots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A02E1D-6CF9-A9EA-0DB8-C99A7C347B95}"/>
                  </a:ext>
                </a:extLst>
              </p:cNvPr>
              <p:cNvSpPr txBox="1"/>
              <p:nvPr/>
            </p:nvSpPr>
            <p:spPr>
              <a:xfrm>
                <a:off x="6008914" y="5518028"/>
                <a:ext cx="653687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000" dirty="0">
                    <a:solidFill>
                      <a:schemeClr val="bg2">
                        <a:lumMod val="50000"/>
                      </a:schemeClr>
                    </a:solidFill>
                  </a:rPr>
                  <a:t>By unlocking 1-stop connections, users have significantly higher chances of securing a ticket.</a:t>
                </a:r>
                <a:endParaRPr lang="en-IN" sz="2000" dirty="0">
                  <a:solidFill>
                    <a:schemeClr val="bg2">
                      <a:lumMod val="50000"/>
                    </a:schemeClr>
                  </a:solidFill>
                  <a:latin typeface="Arial Rounded MT Bold" panose="020F070403050403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00700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E20F3A-03C6-B246-F395-937AB1225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886865-3164-2417-1158-469F43E49F59}"/>
              </a:ext>
            </a:extLst>
          </p:cNvPr>
          <p:cNvSpPr txBox="1"/>
          <p:nvPr/>
        </p:nvSpPr>
        <p:spPr>
          <a:xfrm>
            <a:off x="2217878" y="2644170"/>
            <a:ext cx="77562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>
                <a:solidFill>
                  <a:schemeClr val="bg2"/>
                </a:solidFill>
                <a:latin typeface="Arial Black" panose="020B0A04020102020204" pitchFamily="34" charset="0"/>
              </a:rPr>
              <a:t>Tech Stack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6C1B01-179D-8C91-E370-D31005F56458}"/>
              </a:ext>
            </a:extLst>
          </p:cNvPr>
          <p:cNvSpPr txBox="1"/>
          <p:nvPr/>
        </p:nvSpPr>
        <p:spPr>
          <a:xfrm>
            <a:off x="187779" y="7066564"/>
            <a:ext cx="6536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2"/>
                </a:solidFill>
                <a:latin typeface="Arial Rounded MT Bold" panose="020F0704030504030204" pitchFamily="34" charset="0"/>
              </a:rPr>
              <a:t>Front End Prototype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7C037A-332E-A57B-DF16-A2C93D165158}"/>
              </a:ext>
            </a:extLst>
          </p:cNvPr>
          <p:cNvSpPr txBox="1"/>
          <p:nvPr/>
        </p:nvSpPr>
        <p:spPr>
          <a:xfrm>
            <a:off x="187779" y="7528229"/>
            <a:ext cx="6536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2">
                    <a:lumMod val="50000"/>
                  </a:schemeClr>
                </a:solidFill>
              </a:rPr>
              <a:t>A responsive web interface focused on inputting time constraints and visualizing multi-leg journeys.</a:t>
            </a:r>
            <a:endParaRPr lang="en-IN" sz="2000" dirty="0">
              <a:solidFill>
                <a:schemeClr val="bg2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72C64F-5BB1-568A-B014-0BC1667DED73}"/>
              </a:ext>
            </a:extLst>
          </p:cNvPr>
          <p:cNvSpPr txBox="1"/>
          <p:nvPr/>
        </p:nvSpPr>
        <p:spPr>
          <a:xfrm>
            <a:off x="303893" y="9212300"/>
            <a:ext cx="6536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2"/>
                </a:solidFill>
                <a:latin typeface="Arial Rounded MT Bold" panose="020F0704030504030204" pitchFamily="34" charset="0"/>
              </a:rPr>
              <a:t>Routing Logic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90796A-A096-A999-DA74-CCB420DBC3FE}"/>
              </a:ext>
            </a:extLst>
          </p:cNvPr>
          <p:cNvSpPr txBox="1"/>
          <p:nvPr/>
        </p:nvSpPr>
        <p:spPr>
          <a:xfrm>
            <a:off x="303893" y="9673965"/>
            <a:ext cx="6536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2">
                    <a:lumMod val="50000"/>
                  </a:schemeClr>
                </a:solidFill>
              </a:rPr>
              <a:t>Direct query, hub discovery, buffer validation, route scoring</a:t>
            </a:r>
            <a:endParaRPr lang="en-IN" sz="2000" dirty="0">
              <a:solidFill>
                <a:schemeClr val="bg2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100370-7E17-6B32-5BB9-3909CC6D4130}"/>
              </a:ext>
            </a:extLst>
          </p:cNvPr>
          <p:cNvSpPr txBox="1"/>
          <p:nvPr/>
        </p:nvSpPr>
        <p:spPr>
          <a:xfrm>
            <a:off x="590097" y="8359225"/>
            <a:ext cx="4172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HTML                                   CSS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19A5B5-8FEC-A3B9-66A9-0E985D377422}"/>
              </a:ext>
            </a:extLst>
          </p:cNvPr>
          <p:cNvSpPr txBox="1"/>
          <p:nvPr/>
        </p:nvSpPr>
        <p:spPr>
          <a:xfrm>
            <a:off x="590096" y="10504961"/>
            <a:ext cx="4480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JS                                   Railradar API</a:t>
            </a:r>
          </a:p>
        </p:txBody>
      </p:sp>
    </p:spTree>
    <p:extLst>
      <p:ext uri="{BB962C8B-B14F-4D97-AF65-F5344CB8AC3E}">
        <p14:creationId xmlns:p14="http://schemas.microsoft.com/office/powerpoint/2010/main" val="2486815997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C497CC-85BD-E743-D2B2-0D27CAF13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1266A5-C29D-40F1-3104-069E7EDCE020}"/>
              </a:ext>
            </a:extLst>
          </p:cNvPr>
          <p:cNvSpPr txBox="1"/>
          <p:nvPr/>
        </p:nvSpPr>
        <p:spPr>
          <a:xfrm>
            <a:off x="187779" y="320070"/>
            <a:ext cx="49774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solidFill>
                  <a:schemeClr val="bg2"/>
                </a:solidFill>
                <a:latin typeface="Arial Black" panose="020B0A04020102020204" pitchFamily="34" charset="0"/>
              </a:rPr>
              <a:t>Tech Stack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150599-D900-8800-0740-317054360DE5}"/>
              </a:ext>
            </a:extLst>
          </p:cNvPr>
          <p:cNvSpPr txBox="1"/>
          <p:nvPr/>
        </p:nvSpPr>
        <p:spPr>
          <a:xfrm>
            <a:off x="187779" y="1771357"/>
            <a:ext cx="6536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2"/>
                </a:solidFill>
                <a:latin typeface="Arial Rounded MT Bold" panose="020F0704030504030204" pitchFamily="34" charset="0"/>
              </a:rPr>
              <a:t>Front End Prototype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66A852-D0B1-1CEC-CC70-56F7639AF682}"/>
              </a:ext>
            </a:extLst>
          </p:cNvPr>
          <p:cNvSpPr txBox="1"/>
          <p:nvPr/>
        </p:nvSpPr>
        <p:spPr>
          <a:xfrm>
            <a:off x="187779" y="2233022"/>
            <a:ext cx="6536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2">
                    <a:lumMod val="50000"/>
                  </a:schemeClr>
                </a:solidFill>
              </a:rPr>
              <a:t>A responsive web interface focused on inputting time constraints and visualizing multi-leg journeys.</a:t>
            </a:r>
            <a:endParaRPr lang="en-IN" sz="2000" dirty="0">
              <a:solidFill>
                <a:schemeClr val="bg2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C0A3CA-A640-B7D8-2A45-987987B724BB}"/>
              </a:ext>
            </a:extLst>
          </p:cNvPr>
          <p:cNvSpPr txBox="1"/>
          <p:nvPr/>
        </p:nvSpPr>
        <p:spPr>
          <a:xfrm>
            <a:off x="303893" y="3917093"/>
            <a:ext cx="6536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2"/>
                </a:solidFill>
                <a:latin typeface="Arial Rounded MT Bold" panose="020F0704030504030204" pitchFamily="34" charset="0"/>
              </a:rPr>
              <a:t>Routing Logic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CD91AA-62B0-132F-8326-A0EC56FFBD50}"/>
              </a:ext>
            </a:extLst>
          </p:cNvPr>
          <p:cNvSpPr txBox="1"/>
          <p:nvPr/>
        </p:nvSpPr>
        <p:spPr>
          <a:xfrm>
            <a:off x="303893" y="4378758"/>
            <a:ext cx="6536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2">
                    <a:lumMod val="50000"/>
                  </a:schemeClr>
                </a:solidFill>
              </a:rPr>
              <a:t>Direct query, hub discovery, buffer validation, route scoring</a:t>
            </a:r>
            <a:endParaRPr lang="en-IN" sz="2000" dirty="0">
              <a:solidFill>
                <a:schemeClr val="bg2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11BFB7-93F2-AC05-2CD4-9891B92D1409}"/>
              </a:ext>
            </a:extLst>
          </p:cNvPr>
          <p:cNvSpPr txBox="1"/>
          <p:nvPr/>
        </p:nvSpPr>
        <p:spPr>
          <a:xfrm>
            <a:off x="590097" y="3064018"/>
            <a:ext cx="4172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HTML                                   CSS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D84B83-F6CE-709F-7625-8963302A07DE}"/>
              </a:ext>
            </a:extLst>
          </p:cNvPr>
          <p:cNvSpPr txBox="1"/>
          <p:nvPr/>
        </p:nvSpPr>
        <p:spPr>
          <a:xfrm>
            <a:off x="590096" y="5209754"/>
            <a:ext cx="4480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JS                                   Railradar API</a:t>
            </a:r>
          </a:p>
        </p:txBody>
      </p:sp>
    </p:spTree>
    <p:extLst>
      <p:ext uri="{BB962C8B-B14F-4D97-AF65-F5344CB8AC3E}">
        <p14:creationId xmlns:p14="http://schemas.microsoft.com/office/powerpoint/2010/main" val="2216317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5870F2-DB55-ADE2-8879-98E03AB22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210F1B-201F-1C6E-CA5B-979DE8A44C76}"/>
              </a:ext>
            </a:extLst>
          </p:cNvPr>
          <p:cNvSpPr txBox="1"/>
          <p:nvPr/>
        </p:nvSpPr>
        <p:spPr>
          <a:xfrm>
            <a:off x="2217878" y="2644170"/>
            <a:ext cx="77562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>
                <a:solidFill>
                  <a:schemeClr val="bg2"/>
                </a:solidFill>
                <a:latin typeface="Arial Black" panose="020B0A04020102020204" pitchFamily="34" charset="0"/>
              </a:rPr>
              <a:t>Thank You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912777-D692-1DED-0888-47DC1CBAE8EA}"/>
              </a:ext>
            </a:extLst>
          </p:cNvPr>
          <p:cNvSpPr txBox="1"/>
          <p:nvPr/>
        </p:nvSpPr>
        <p:spPr>
          <a:xfrm>
            <a:off x="187779" y="7066564"/>
            <a:ext cx="6536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2"/>
                </a:solidFill>
                <a:latin typeface="Arial Rounded MT Bold" panose="020F0704030504030204" pitchFamily="34" charset="0"/>
              </a:rPr>
              <a:t>Front End Prototype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34A4F9-E23A-544B-A957-D41A2300511A}"/>
              </a:ext>
            </a:extLst>
          </p:cNvPr>
          <p:cNvSpPr txBox="1"/>
          <p:nvPr/>
        </p:nvSpPr>
        <p:spPr>
          <a:xfrm>
            <a:off x="187779" y="7528229"/>
            <a:ext cx="6536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2">
                    <a:lumMod val="50000"/>
                  </a:schemeClr>
                </a:solidFill>
              </a:rPr>
              <a:t>A responsive web interface focused on inputting time constraints and visualizing multi-leg journeys.</a:t>
            </a:r>
            <a:endParaRPr lang="en-IN" sz="2000" dirty="0">
              <a:solidFill>
                <a:schemeClr val="bg2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8B870E-A490-A7B5-6995-2AA9D85643DD}"/>
              </a:ext>
            </a:extLst>
          </p:cNvPr>
          <p:cNvSpPr txBox="1"/>
          <p:nvPr/>
        </p:nvSpPr>
        <p:spPr>
          <a:xfrm>
            <a:off x="303893" y="9212300"/>
            <a:ext cx="6536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2"/>
                </a:solidFill>
                <a:latin typeface="Arial Rounded MT Bold" panose="020F0704030504030204" pitchFamily="34" charset="0"/>
              </a:rPr>
              <a:t>Routing Logic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F5239D-3CB4-D8D2-1628-D8C829EA561F}"/>
              </a:ext>
            </a:extLst>
          </p:cNvPr>
          <p:cNvSpPr txBox="1"/>
          <p:nvPr/>
        </p:nvSpPr>
        <p:spPr>
          <a:xfrm>
            <a:off x="303893" y="9673965"/>
            <a:ext cx="6536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2">
                    <a:lumMod val="50000"/>
                  </a:schemeClr>
                </a:solidFill>
              </a:rPr>
              <a:t>Direct query, hub discovery, buffer validation, route scoring</a:t>
            </a:r>
            <a:endParaRPr lang="en-IN" sz="2000" dirty="0">
              <a:solidFill>
                <a:schemeClr val="bg2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089461-5A17-F180-8E5A-FD2B8BD472EA}"/>
              </a:ext>
            </a:extLst>
          </p:cNvPr>
          <p:cNvSpPr txBox="1"/>
          <p:nvPr/>
        </p:nvSpPr>
        <p:spPr>
          <a:xfrm>
            <a:off x="590097" y="8359225"/>
            <a:ext cx="4172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HTML                                   CSS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DF3AA3-2CB2-F8B1-D2A7-5540B26B6C4F}"/>
              </a:ext>
            </a:extLst>
          </p:cNvPr>
          <p:cNvSpPr txBox="1"/>
          <p:nvPr/>
        </p:nvSpPr>
        <p:spPr>
          <a:xfrm>
            <a:off x="590096" y="10504961"/>
            <a:ext cx="4480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JS                                   Railradar API</a:t>
            </a:r>
          </a:p>
        </p:txBody>
      </p:sp>
    </p:spTree>
    <p:extLst>
      <p:ext uri="{BB962C8B-B14F-4D97-AF65-F5344CB8AC3E}">
        <p14:creationId xmlns:p14="http://schemas.microsoft.com/office/powerpoint/2010/main" val="337426714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1077</Words>
  <Application>Microsoft Office PowerPoint</Application>
  <PresentationFormat>Widescreen</PresentationFormat>
  <Paragraphs>141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Arial Black</vt:lpstr>
      <vt:lpstr>Arial Rounded MT Bold</vt:lpstr>
      <vt:lpstr>Eras Bold ITC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Shishant Tiwari</dc:creator>
  <cp:lastModifiedBy>Shishant Tiwari</cp:lastModifiedBy>
  <cp:revision>2</cp:revision>
  <dcterms:created xsi:type="dcterms:W3CDTF">2026-09-12T04:10:26Z</dcterms:created>
  <dcterms:modified xsi:type="dcterms:W3CDTF">2026-09-12T09:46:35Z</dcterms:modified>
</cp:coreProperties>
</file>